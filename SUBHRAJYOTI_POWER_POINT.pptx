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5"/>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4883DB-7055-4811-BE7C-94A6DB0CEE06}" type="datetimeFigureOut">
              <a:rPr lang="en-IN" smtClean="0"/>
              <a:t>29-05-2026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392318-F2C0-4D67-960F-43EEDDF53052}" type="slidenum">
              <a:rPr lang="en-IN" smtClean="0"/>
              <a:t>‹#›</a:t>
            </a:fld>
            <a:endParaRPr lang="en-IN"/>
          </a:p>
        </p:txBody>
      </p:sp>
    </p:spTree>
    <p:extLst>
      <p:ext uri="{BB962C8B-B14F-4D97-AF65-F5344CB8AC3E}">
        <p14:creationId xmlns:p14="http://schemas.microsoft.com/office/powerpoint/2010/main" val="3379832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5392318-F2C0-4D67-960F-43EEDDF53052}" type="slidenum">
              <a:rPr lang="en-IN" smtClean="0"/>
              <a:t>10</a:t>
            </a:fld>
            <a:endParaRPr lang="en-IN"/>
          </a:p>
        </p:txBody>
      </p:sp>
    </p:spTree>
    <p:extLst>
      <p:ext uri="{BB962C8B-B14F-4D97-AF65-F5344CB8AC3E}">
        <p14:creationId xmlns:p14="http://schemas.microsoft.com/office/powerpoint/2010/main" val="428165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B76DED-235C-4CAD-A6DF-26127A4D8DEB}"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3092450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B76DED-235C-4CAD-A6DF-26127A4D8DEB}"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2380142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B76DED-235C-4CAD-A6DF-26127A4D8DEB}"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640264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B76DED-235C-4CAD-A6DF-26127A4D8DEB}" type="datetimeFigureOut">
              <a:rPr lang="en-IN" smtClean="0"/>
              <a:t>29-05-2026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3450456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B76DED-235C-4CAD-A6DF-26127A4D8DEB}" type="datetimeFigureOut">
              <a:rPr lang="en-IN" smtClean="0"/>
              <a:t>29-05-2026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286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B76DED-235C-4CAD-A6DF-26127A4D8DEB}" type="datetimeFigureOut">
              <a:rPr lang="en-IN" smtClean="0"/>
              <a:t>29-05-2026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833637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B76DED-235C-4CAD-A6DF-26127A4D8DEB}" type="datetimeFigureOut">
              <a:rPr lang="en-IN" smtClean="0"/>
              <a:t>29-05-2026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2079620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B76DED-235C-4CAD-A6DF-26127A4D8DEB}" type="datetimeFigureOut">
              <a:rPr lang="en-IN" smtClean="0"/>
              <a:t>29-05-2026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3268682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B76DED-235C-4CAD-A6DF-26127A4D8DEB}" type="datetimeFigureOut">
              <a:rPr lang="en-IN" smtClean="0"/>
              <a:t>29-05-2026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2517149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B76DED-235C-4CAD-A6DF-26127A4D8DEB}"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2198205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B76DED-235C-4CAD-A6DF-26127A4D8DEB}"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10D63B-4F54-424B-8F8D-242545C85AF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12268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B76DED-235C-4CAD-A6DF-26127A4D8DEB}"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502449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B76DED-235C-4CAD-A6DF-26127A4D8DEB}"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10D63B-4F54-424B-8F8D-242545C85AF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18006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B76DED-235C-4CAD-A6DF-26127A4D8DEB}"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2669790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B76DED-235C-4CAD-A6DF-26127A4D8DEB}"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1448933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B76DED-235C-4CAD-A6DF-26127A4D8DEB}"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10D63B-4F54-424B-8F8D-242545C85AF0}" type="slidenum">
              <a:rPr lang="en-IN" smtClean="0"/>
              <a:t>‹#›</a:t>
            </a:fld>
            <a:endParaRPr lang="en-IN"/>
          </a:p>
        </p:txBody>
      </p:sp>
    </p:spTree>
    <p:extLst>
      <p:ext uri="{BB962C8B-B14F-4D97-AF65-F5344CB8AC3E}">
        <p14:creationId xmlns:p14="http://schemas.microsoft.com/office/powerpoint/2010/main" val="3222194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6B76DED-235C-4CAD-A6DF-26127A4D8DEB}" type="datetimeFigureOut">
              <a:rPr lang="en-IN" smtClean="0"/>
              <a:t>29-05-2026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6F10D63B-4F54-424B-8F8D-242545C85AF0}" type="slidenum">
              <a:rPr lang="en-IN" smtClean="0"/>
              <a:t>‹#›</a:t>
            </a:fld>
            <a:endParaRPr lang="en-IN"/>
          </a:p>
        </p:txBody>
      </p:sp>
    </p:spTree>
    <p:extLst>
      <p:ext uri="{BB962C8B-B14F-4D97-AF65-F5344CB8AC3E}">
        <p14:creationId xmlns:p14="http://schemas.microsoft.com/office/powerpoint/2010/main" val="101171875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1E0DA-F655-70F6-1B77-9A9A041156B3}"/>
              </a:ext>
            </a:extLst>
          </p:cNvPr>
          <p:cNvSpPr>
            <a:spLocks noGrp="1"/>
          </p:cNvSpPr>
          <p:nvPr>
            <p:ph type="ctrTitle"/>
          </p:nvPr>
        </p:nvSpPr>
        <p:spPr>
          <a:xfrm>
            <a:off x="1507067" y="3428999"/>
            <a:ext cx="7766936" cy="2589246"/>
          </a:xfrm>
        </p:spPr>
        <p:txBody>
          <a:bodyPr/>
          <a:lstStyle/>
          <a:p>
            <a:pPr algn="l"/>
            <a:r>
              <a:rPr lang="en-US" b="1" i="1" dirty="0">
                <a:latin typeface="Lato Bold Italics"/>
                <a:ea typeface="Lato Bold Italics"/>
                <a:cs typeface="Lato Bold Italics"/>
                <a:sym typeface="Lato Bold Italics"/>
              </a:rPr>
              <a:t>SOCIAL MEDIA ANALYSIS PROJECT</a:t>
            </a:r>
            <a:br>
              <a:rPr lang="en-US" b="1" i="1" dirty="0">
                <a:latin typeface="Lato Bold Italics"/>
                <a:ea typeface="Lato Bold Italics"/>
                <a:cs typeface="Lato Bold Italics"/>
                <a:sym typeface="Lato Bold Italics"/>
              </a:rPr>
            </a:br>
            <a:endParaRPr lang="en-IN" dirty="0"/>
          </a:p>
        </p:txBody>
      </p:sp>
      <p:sp>
        <p:nvSpPr>
          <p:cNvPr id="3" name="Subtitle 2">
            <a:extLst>
              <a:ext uri="{FF2B5EF4-FFF2-40B4-BE49-F238E27FC236}">
                <a16:creationId xmlns:a16="http://schemas.microsoft.com/office/drawing/2014/main" id="{BC7583E4-107B-8C6E-6560-CB120AC93A24}"/>
              </a:ext>
            </a:extLst>
          </p:cNvPr>
          <p:cNvSpPr>
            <a:spLocks noGrp="1"/>
          </p:cNvSpPr>
          <p:nvPr>
            <p:ph type="subTitle" idx="1"/>
          </p:nvPr>
        </p:nvSpPr>
        <p:spPr>
          <a:xfrm>
            <a:off x="1507067" y="5458407"/>
            <a:ext cx="7766936" cy="923731"/>
          </a:xfrm>
        </p:spPr>
        <p:txBody>
          <a:bodyPr>
            <a:normAutofit/>
          </a:bodyPr>
          <a:lstStyle/>
          <a:p>
            <a:r>
              <a:rPr lang="en-US" sz="2800" dirty="0">
                <a:solidFill>
                  <a:schemeClr val="bg2">
                    <a:lumMod val="10000"/>
                  </a:schemeClr>
                </a:solidFill>
              </a:rPr>
              <a:t>By – </a:t>
            </a:r>
            <a:r>
              <a:rPr lang="en-US" sz="2800" dirty="0" err="1">
                <a:solidFill>
                  <a:schemeClr val="bg2">
                    <a:lumMod val="10000"/>
                  </a:schemeClr>
                </a:solidFill>
              </a:rPr>
              <a:t>Subhrajyoti</a:t>
            </a:r>
            <a:r>
              <a:rPr lang="en-US" sz="2800" dirty="0">
                <a:solidFill>
                  <a:schemeClr val="bg2">
                    <a:lumMod val="10000"/>
                  </a:schemeClr>
                </a:solidFill>
              </a:rPr>
              <a:t> Guha</a:t>
            </a:r>
            <a:endParaRPr lang="en-IN" sz="2800" dirty="0">
              <a:solidFill>
                <a:schemeClr val="bg2">
                  <a:lumMod val="10000"/>
                </a:schemeClr>
              </a:solidFill>
            </a:endParaRPr>
          </a:p>
        </p:txBody>
      </p:sp>
      <p:pic>
        <p:nvPicPr>
          <p:cNvPr id="5" name="Picture 4">
            <a:extLst>
              <a:ext uri="{FF2B5EF4-FFF2-40B4-BE49-F238E27FC236}">
                <a16:creationId xmlns:a16="http://schemas.microsoft.com/office/drawing/2014/main" id="{3AB0AF11-0E07-80A1-5617-19E44E4FE773}"/>
              </a:ext>
            </a:extLst>
          </p:cNvPr>
          <p:cNvPicPr>
            <a:picLocks noChangeAspect="1"/>
          </p:cNvPicPr>
          <p:nvPr/>
        </p:nvPicPr>
        <p:blipFill>
          <a:blip r:embed="rId2"/>
          <a:stretch>
            <a:fillRect/>
          </a:stretch>
        </p:blipFill>
        <p:spPr>
          <a:xfrm>
            <a:off x="1507067" y="475862"/>
            <a:ext cx="5346017" cy="2335178"/>
          </a:xfrm>
          <a:prstGeom prst="rect">
            <a:avLst/>
          </a:prstGeom>
        </p:spPr>
      </p:pic>
    </p:spTree>
    <p:extLst>
      <p:ext uri="{BB962C8B-B14F-4D97-AF65-F5344CB8AC3E}">
        <p14:creationId xmlns:p14="http://schemas.microsoft.com/office/powerpoint/2010/main" val="868170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D4800-18F3-7105-6107-00706ABE6312}"/>
              </a:ext>
            </a:extLst>
          </p:cNvPr>
          <p:cNvSpPr>
            <a:spLocks noGrp="1"/>
          </p:cNvSpPr>
          <p:nvPr>
            <p:ph type="title"/>
          </p:nvPr>
        </p:nvSpPr>
        <p:spPr>
          <a:xfrm>
            <a:off x="177282" y="335902"/>
            <a:ext cx="9004040" cy="1138335"/>
          </a:xfrm>
        </p:spPr>
        <p:txBody>
          <a:bodyPr>
            <a:normAutofit/>
          </a:bodyPr>
          <a:lstStyle/>
          <a:p>
            <a:r>
              <a:rPr lang="en" b="1" dirty="0">
                <a:solidFill>
                  <a:schemeClr val="bg2">
                    <a:lumMod val="10000"/>
                  </a:schemeClr>
                </a:solidFill>
              </a:rPr>
              <a:t>Problem Statement </a:t>
            </a:r>
            <a:endParaRPr lang="en-IN" dirty="0"/>
          </a:p>
        </p:txBody>
      </p:sp>
      <p:sp>
        <p:nvSpPr>
          <p:cNvPr id="3" name="Content Placeholder 2">
            <a:extLst>
              <a:ext uri="{FF2B5EF4-FFF2-40B4-BE49-F238E27FC236}">
                <a16:creationId xmlns:a16="http://schemas.microsoft.com/office/drawing/2014/main" id="{94BCE258-839D-E081-85D6-5BA555AE9DDB}"/>
              </a:ext>
            </a:extLst>
          </p:cNvPr>
          <p:cNvSpPr>
            <a:spLocks noGrp="1"/>
          </p:cNvSpPr>
          <p:nvPr>
            <p:ph sz="half" idx="1"/>
          </p:nvPr>
        </p:nvSpPr>
        <p:spPr>
          <a:xfrm>
            <a:off x="177282" y="1017036"/>
            <a:ext cx="5840964" cy="5840963"/>
          </a:xfrm>
        </p:spPr>
        <p:txBody>
          <a:bodyPr>
            <a:normAutofit/>
          </a:bodyPr>
          <a:lstStyle/>
          <a:p>
            <a:pPr marL="0" lvl="0" indent="0">
              <a:lnSpc>
                <a:spcPct val="105000"/>
              </a:lnSpc>
              <a:spcBef>
                <a:spcPts val="1200"/>
              </a:spcBef>
              <a:buClr>
                <a:schemeClr val="dk1"/>
              </a:buClr>
              <a:buSzPts val="1100"/>
              <a:buNone/>
            </a:pPr>
            <a:r>
              <a:rPr lang="en-US" sz="2000" b="1" dirty="0">
                <a:solidFill>
                  <a:schemeClr val="accent1">
                    <a:lumMod val="75000"/>
                  </a:schemeClr>
                </a:solidFill>
              </a:rPr>
              <a:t>Context:</a:t>
            </a:r>
            <a:br>
              <a:rPr lang="en-US" b="1" dirty="0">
                <a:solidFill>
                  <a:schemeClr val="bg2">
                    <a:lumMod val="10000"/>
                  </a:schemeClr>
                </a:solidFill>
              </a:rPr>
            </a:br>
            <a:r>
              <a:rPr lang="en-US" b="1" dirty="0">
                <a:solidFill>
                  <a:schemeClr val="bg2">
                    <a:lumMod val="10000"/>
                  </a:schemeClr>
                </a:solidFill>
              </a:rPr>
              <a:t> 	You are hired as a Data Analyst at Meta to 	collaborate with the Marketing team.</a:t>
            </a:r>
          </a:p>
          <a:p>
            <a:pPr marL="0" lvl="0" indent="0">
              <a:lnSpc>
                <a:spcPct val="105000"/>
              </a:lnSpc>
              <a:spcBef>
                <a:spcPts val="1200"/>
              </a:spcBef>
              <a:buClr>
                <a:schemeClr val="dk1"/>
              </a:buClr>
              <a:buSzPts val="1100"/>
              <a:buNone/>
            </a:pPr>
            <a:r>
              <a:rPr lang="en-US" sz="2000" b="1" dirty="0">
                <a:solidFill>
                  <a:schemeClr val="accent1">
                    <a:lumMod val="75000"/>
                  </a:schemeClr>
                </a:solidFill>
              </a:rPr>
              <a:t>Objective:</a:t>
            </a:r>
            <a:br>
              <a:rPr lang="en-US" b="1" dirty="0">
                <a:solidFill>
                  <a:schemeClr val="bg2">
                    <a:lumMod val="10000"/>
                  </a:schemeClr>
                </a:solidFill>
              </a:rPr>
            </a:br>
            <a:r>
              <a:rPr lang="en-US" b="1" dirty="0">
                <a:solidFill>
                  <a:schemeClr val="bg2">
                    <a:lumMod val="10000"/>
                  </a:schemeClr>
                </a:solidFill>
              </a:rPr>
              <a:t> 	The Marketing team wants to leverage 	Instagram user data to:</a:t>
            </a:r>
          </a:p>
          <a:p>
            <a:pPr marL="457200" lvl="0" indent="-311150">
              <a:lnSpc>
                <a:spcPct val="105000"/>
              </a:lnSpc>
              <a:spcBef>
                <a:spcPts val="1200"/>
              </a:spcBef>
              <a:buClr>
                <a:schemeClr val="lt1"/>
              </a:buClr>
              <a:buSzPts val="1300"/>
              <a:buChar char="●"/>
            </a:pPr>
            <a:r>
              <a:rPr lang="en-US" b="1" dirty="0">
                <a:solidFill>
                  <a:schemeClr val="bg2">
                    <a:lumMod val="10000"/>
                  </a:schemeClr>
                </a:solidFill>
              </a:rPr>
              <a:t>Develop targeted marketing strategies</a:t>
            </a:r>
          </a:p>
          <a:p>
            <a:pPr marL="457200" lvl="0" indent="-311150">
              <a:lnSpc>
                <a:spcPct val="105000"/>
              </a:lnSpc>
              <a:spcBef>
                <a:spcPts val="0"/>
              </a:spcBef>
              <a:buClr>
                <a:schemeClr val="lt1"/>
              </a:buClr>
              <a:buSzPts val="1300"/>
              <a:buChar char="●"/>
            </a:pPr>
            <a:r>
              <a:rPr lang="en-US" b="1" dirty="0">
                <a:solidFill>
                  <a:schemeClr val="bg2">
                    <a:lumMod val="10000"/>
                  </a:schemeClr>
                </a:solidFill>
              </a:rPr>
              <a:t>Increase user engagement, retention, and acquisition</a:t>
            </a:r>
          </a:p>
          <a:p>
            <a:pPr marL="457200" lvl="0" indent="-311150">
              <a:lnSpc>
                <a:spcPct val="105000"/>
              </a:lnSpc>
              <a:spcBef>
                <a:spcPts val="0"/>
              </a:spcBef>
              <a:buClr>
                <a:schemeClr val="lt1"/>
              </a:buClr>
              <a:buSzPts val="1300"/>
              <a:buChar char="●"/>
            </a:pPr>
            <a:r>
              <a:rPr lang="en-US" b="1" dirty="0">
                <a:solidFill>
                  <a:schemeClr val="bg2">
                    <a:lumMod val="10000"/>
                  </a:schemeClr>
                </a:solidFill>
              </a:rPr>
              <a:t>Identify actionable insights and provide recommendations</a:t>
            </a:r>
          </a:p>
          <a:p>
            <a:pPr marL="0" lvl="0" indent="0">
              <a:lnSpc>
                <a:spcPct val="105000"/>
              </a:lnSpc>
              <a:spcBef>
                <a:spcPts val="1200"/>
              </a:spcBef>
              <a:spcAft>
                <a:spcPts val="1200"/>
              </a:spcAft>
              <a:buNone/>
            </a:pPr>
            <a:r>
              <a:rPr lang="en-US" sz="2000" b="1" dirty="0">
                <a:solidFill>
                  <a:schemeClr val="accent1">
                    <a:lumMod val="75000"/>
                  </a:schemeClr>
                </a:solidFill>
              </a:rPr>
              <a:t>Your Task:</a:t>
            </a:r>
            <a:br>
              <a:rPr lang="en-US" b="1" dirty="0">
                <a:solidFill>
                  <a:schemeClr val="bg2">
                    <a:lumMod val="10000"/>
                  </a:schemeClr>
                </a:solidFill>
              </a:rPr>
            </a:br>
            <a:r>
              <a:rPr lang="en-US" b="1" dirty="0">
                <a:solidFill>
                  <a:schemeClr val="bg2">
                    <a:lumMod val="10000"/>
                  </a:schemeClr>
                </a:solidFill>
              </a:rPr>
              <a:t> 	Analyze the dataset and provide insights to 	address these objectives through SQL queries, 	observations, and strategic recommendations</a:t>
            </a:r>
            <a:endParaRPr lang="en-US" sz="2800" b="1" dirty="0">
              <a:solidFill>
                <a:schemeClr val="bg2">
                  <a:lumMod val="10000"/>
                </a:schemeClr>
              </a:solidFill>
            </a:endParaRPr>
          </a:p>
          <a:p>
            <a:endParaRPr lang="en-IN" dirty="0"/>
          </a:p>
        </p:txBody>
      </p:sp>
      <p:pic>
        <p:nvPicPr>
          <p:cNvPr id="10" name="Content Placeholder 9">
            <a:extLst>
              <a:ext uri="{FF2B5EF4-FFF2-40B4-BE49-F238E27FC236}">
                <a16:creationId xmlns:a16="http://schemas.microsoft.com/office/drawing/2014/main" id="{702233AD-7D81-ABA4-E209-7F797F001682}"/>
              </a:ext>
            </a:extLst>
          </p:cNvPr>
          <p:cNvPicPr>
            <a:picLocks noGrp="1" noChangeAspect="1"/>
          </p:cNvPicPr>
          <p:nvPr>
            <p:ph sz="half" idx="2"/>
          </p:nvPr>
        </p:nvPicPr>
        <p:blipFill>
          <a:blip r:embed="rId2"/>
          <a:stretch>
            <a:fillRect/>
          </a:stretch>
        </p:blipFill>
        <p:spPr>
          <a:xfrm>
            <a:off x="5885122" y="1091683"/>
            <a:ext cx="3847170" cy="3522240"/>
          </a:xfrm>
          <a:prstGeom prst="rect">
            <a:avLst/>
          </a:prstGeom>
        </p:spPr>
      </p:pic>
    </p:spTree>
    <p:extLst>
      <p:ext uri="{BB962C8B-B14F-4D97-AF65-F5344CB8AC3E}">
        <p14:creationId xmlns:p14="http://schemas.microsoft.com/office/powerpoint/2010/main" val="1654627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FDA1-B012-C962-D8E9-FDD53A5611FB}"/>
              </a:ext>
            </a:extLst>
          </p:cNvPr>
          <p:cNvSpPr>
            <a:spLocks noGrp="1"/>
          </p:cNvSpPr>
          <p:nvPr>
            <p:ph type="ctrTitle"/>
          </p:nvPr>
        </p:nvSpPr>
        <p:spPr>
          <a:xfrm>
            <a:off x="1507067" y="737118"/>
            <a:ext cx="7766936" cy="1576874"/>
          </a:xfrm>
        </p:spPr>
        <p:txBody>
          <a:bodyPr/>
          <a:lstStyle/>
          <a:p>
            <a:pPr algn="l"/>
            <a:r>
              <a:rPr lang="en" sz="4800" b="1" dirty="0"/>
              <a:t>Instagram Dataset: Columns and Descriptions</a:t>
            </a:r>
            <a:endParaRPr lang="en-IN" sz="4800" dirty="0"/>
          </a:p>
        </p:txBody>
      </p:sp>
      <p:sp>
        <p:nvSpPr>
          <p:cNvPr id="3" name="Subtitle 2">
            <a:extLst>
              <a:ext uri="{FF2B5EF4-FFF2-40B4-BE49-F238E27FC236}">
                <a16:creationId xmlns:a16="http://schemas.microsoft.com/office/drawing/2014/main" id="{797711E3-6B1A-8E44-E548-1935619B9FA1}"/>
              </a:ext>
            </a:extLst>
          </p:cNvPr>
          <p:cNvSpPr>
            <a:spLocks noGrp="1"/>
          </p:cNvSpPr>
          <p:nvPr>
            <p:ph type="subTitle" idx="1"/>
          </p:nvPr>
        </p:nvSpPr>
        <p:spPr>
          <a:xfrm>
            <a:off x="382555" y="2551923"/>
            <a:ext cx="6260842" cy="3984172"/>
          </a:xfrm>
        </p:spPr>
        <p:txBody>
          <a:bodyPr>
            <a:normAutofit fontScale="85000" lnSpcReduction="10000"/>
          </a:bodyPr>
          <a:lstStyle/>
          <a:p>
            <a:pPr lvl="0" algn="l">
              <a:spcBef>
                <a:spcPts val="1800"/>
              </a:spcBef>
            </a:pPr>
            <a:r>
              <a:rPr lang="en-US" sz="2000" b="1" dirty="0">
                <a:solidFill>
                  <a:schemeClr val="accent1">
                    <a:lumMod val="75000"/>
                  </a:schemeClr>
                </a:solidFill>
              </a:rPr>
              <a:t>Key Data Attributes:</a:t>
            </a:r>
          </a:p>
          <a:p>
            <a:pPr marL="457200" lvl="0" indent="-311150" algn="l">
              <a:spcBef>
                <a:spcPts val="1200"/>
              </a:spcBef>
              <a:buClr>
                <a:schemeClr val="tx1"/>
              </a:buClr>
              <a:buSzPts val="1300"/>
              <a:buFont typeface="Courier New" panose="02070309020205020404" pitchFamily="49" charset="0"/>
              <a:buChar char="o"/>
            </a:pPr>
            <a:r>
              <a:rPr lang="en-US" b="1" dirty="0" err="1">
                <a:solidFill>
                  <a:schemeClr val="tx1"/>
                </a:solidFill>
              </a:rPr>
              <a:t>user_id</a:t>
            </a:r>
            <a:r>
              <a:rPr lang="en-US" dirty="0">
                <a:solidFill>
                  <a:schemeClr val="tx1"/>
                </a:solidFill>
              </a:rPr>
              <a:t>: A unique numeric ID assigned to each registered user on the platform.</a:t>
            </a:r>
          </a:p>
          <a:p>
            <a:pPr marL="457200" lvl="0" indent="-311150" algn="l">
              <a:spcBef>
                <a:spcPts val="0"/>
              </a:spcBef>
              <a:buClr>
                <a:schemeClr val="tx1"/>
              </a:buClr>
              <a:buSzPts val="1300"/>
              <a:buFont typeface="Courier New" panose="02070309020205020404" pitchFamily="49" charset="0"/>
              <a:buChar char="o"/>
            </a:pPr>
            <a:r>
              <a:rPr lang="en-US" b="1" dirty="0">
                <a:solidFill>
                  <a:schemeClr val="tx1"/>
                </a:solidFill>
              </a:rPr>
              <a:t>username</a:t>
            </a:r>
            <a:r>
              <a:rPr lang="en-US" dirty="0">
                <a:solidFill>
                  <a:schemeClr val="tx1"/>
                </a:solidFill>
              </a:rPr>
              <a:t>: The public name or handle that identifies the user.</a:t>
            </a:r>
          </a:p>
          <a:p>
            <a:pPr marL="457200" lvl="0" indent="-311150" algn="l">
              <a:spcBef>
                <a:spcPts val="0"/>
              </a:spcBef>
              <a:buClr>
                <a:schemeClr val="tx1"/>
              </a:buClr>
              <a:buSzPts val="1300"/>
              <a:buFont typeface="Courier New" panose="02070309020205020404" pitchFamily="49" charset="0"/>
              <a:buChar char="o"/>
            </a:pPr>
            <a:r>
              <a:rPr lang="en-US" b="1" dirty="0" err="1">
                <a:solidFill>
                  <a:schemeClr val="tx1"/>
                </a:solidFill>
              </a:rPr>
              <a:t>photo_id</a:t>
            </a:r>
            <a:r>
              <a:rPr lang="en-US" dirty="0">
                <a:solidFill>
                  <a:schemeClr val="tx1"/>
                </a:solidFill>
              </a:rPr>
              <a:t>: A unique identifier for every photo uploaded by users.</a:t>
            </a:r>
          </a:p>
          <a:p>
            <a:pPr marL="457200" lvl="0" indent="-311150" algn="l">
              <a:spcBef>
                <a:spcPts val="0"/>
              </a:spcBef>
              <a:buClr>
                <a:schemeClr val="tx1"/>
              </a:buClr>
              <a:buSzPts val="1300"/>
              <a:buFont typeface="Courier New" panose="02070309020205020404" pitchFamily="49" charset="0"/>
              <a:buChar char="o"/>
            </a:pPr>
            <a:r>
              <a:rPr lang="en-US" b="1" dirty="0" err="1">
                <a:solidFill>
                  <a:schemeClr val="tx1"/>
                </a:solidFill>
              </a:rPr>
              <a:t>image_url</a:t>
            </a:r>
            <a:r>
              <a:rPr lang="en-US" dirty="0">
                <a:solidFill>
                  <a:schemeClr val="tx1"/>
                </a:solidFill>
              </a:rPr>
              <a:t>: The link pointing directly to the uploaded image.</a:t>
            </a:r>
          </a:p>
          <a:p>
            <a:pPr marL="457200" lvl="0" indent="-311150" algn="l">
              <a:spcBef>
                <a:spcPts val="0"/>
              </a:spcBef>
              <a:buClr>
                <a:schemeClr val="tx1"/>
              </a:buClr>
              <a:buSzPts val="1300"/>
              <a:buFont typeface="Courier New" panose="02070309020205020404" pitchFamily="49" charset="0"/>
              <a:buChar char="o"/>
            </a:pPr>
            <a:r>
              <a:rPr lang="en-US" b="1" dirty="0" err="1">
                <a:solidFill>
                  <a:schemeClr val="tx1"/>
                </a:solidFill>
              </a:rPr>
              <a:t>created_at</a:t>
            </a:r>
            <a:r>
              <a:rPr lang="en-US" dirty="0">
                <a:solidFill>
                  <a:schemeClr val="tx1"/>
                </a:solidFill>
              </a:rPr>
              <a:t>: The exact timestamp when a record (post, like, comment, follow, or tag) was generated.</a:t>
            </a:r>
          </a:p>
          <a:p>
            <a:pPr marL="457200" lvl="0" indent="-311150" algn="l">
              <a:spcBef>
                <a:spcPts val="0"/>
              </a:spcBef>
              <a:buClr>
                <a:schemeClr val="tx1"/>
              </a:buClr>
              <a:buSzPts val="1300"/>
              <a:buFont typeface="Courier New" panose="02070309020205020404" pitchFamily="49" charset="0"/>
              <a:buChar char="o"/>
            </a:pPr>
            <a:r>
              <a:rPr lang="en-US" b="1" dirty="0" err="1">
                <a:solidFill>
                  <a:schemeClr val="tx1"/>
                </a:solidFill>
              </a:rPr>
              <a:t>comment_id</a:t>
            </a:r>
            <a:r>
              <a:rPr lang="en-US" dirty="0">
                <a:solidFill>
                  <a:schemeClr val="tx1"/>
                </a:solidFill>
              </a:rPr>
              <a:t>: A unique key assigned to each comment made on a photo.</a:t>
            </a:r>
          </a:p>
          <a:p>
            <a:pPr marL="457200" lvl="0" indent="-311150" algn="l">
              <a:spcBef>
                <a:spcPts val="0"/>
              </a:spcBef>
              <a:buClr>
                <a:schemeClr val="tx1"/>
              </a:buClr>
              <a:buSzPts val="1300"/>
              <a:buFont typeface="Courier New" panose="02070309020205020404" pitchFamily="49" charset="0"/>
              <a:buChar char="o"/>
            </a:pPr>
            <a:r>
              <a:rPr lang="en-US" b="1" dirty="0" err="1">
                <a:solidFill>
                  <a:schemeClr val="tx1"/>
                </a:solidFill>
              </a:rPr>
              <a:t>comment_text</a:t>
            </a:r>
            <a:r>
              <a:rPr lang="en-US" dirty="0">
                <a:solidFill>
                  <a:schemeClr val="tx1"/>
                </a:solidFill>
              </a:rPr>
              <a:t>: The actual message or feedback written by a user in a comment.</a:t>
            </a:r>
          </a:p>
          <a:p>
            <a:pPr marL="457200" lvl="0" indent="-311150" algn="l">
              <a:spcBef>
                <a:spcPts val="0"/>
              </a:spcBef>
              <a:buClr>
                <a:schemeClr val="tx1"/>
              </a:buClr>
              <a:buSzPts val="1300"/>
              <a:buFont typeface="Courier New" panose="02070309020205020404" pitchFamily="49" charset="0"/>
              <a:buChar char="o"/>
            </a:pPr>
            <a:r>
              <a:rPr lang="en-US" b="1" dirty="0" err="1">
                <a:solidFill>
                  <a:schemeClr val="tx1"/>
                </a:solidFill>
              </a:rPr>
              <a:t>follower_id</a:t>
            </a:r>
            <a:r>
              <a:rPr lang="en-US" dirty="0">
                <a:solidFill>
                  <a:schemeClr val="tx1"/>
                </a:solidFill>
              </a:rPr>
              <a:t>: Refers to the user who is following another user.</a:t>
            </a:r>
          </a:p>
          <a:p>
            <a:pPr marL="457200" lvl="0" indent="-311150" algn="l">
              <a:spcBef>
                <a:spcPts val="0"/>
              </a:spcBef>
              <a:buClr>
                <a:schemeClr val="tx1"/>
              </a:buClr>
              <a:buSzPts val="1300"/>
              <a:buFont typeface="Courier New" panose="02070309020205020404" pitchFamily="49" charset="0"/>
              <a:buChar char="o"/>
            </a:pPr>
            <a:r>
              <a:rPr lang="en-US" b="1" dirty="0" err="1">
                <a:solidFill>
                  <a:schemeClr val="tx1"/>
                </a:solidFill>
              </a:rPr>
              <a:t>followee_id</a:t>
            </a:r>
            <a:r>
              <a:rPr lang="en-US" dirty="0">
                <a:solidFill>
                  <a:schemeClr val="tx1"/>
                </a:solidFill>
              </a:rPr>
              <a:t>: Refers to the user who is being followed.</a:t>
            </a:r>
          </a:p>
          <a:p>
            <a:pPr marL="457200" lvl="0" indent="-311150" algn="l">
              <a:spcBef>
                <a:spcPts val="0"/>
              </a:spcBef>
              <a:buClr>
                <a:schemeClr val="tx1"/>
              </a:buClr>
              <a:buSzPts val="1300"/>
              <a:buFont typeface="Courier New" panose="02070309020205020404" pitchFamily="49" charset="0"/>
              <a:buChar char="o"/>
            </a:pPr>
            <a:r>
              <a:rPr lang="en-US" b="1" dirty="0" err="1">
                <a:solidFill>
                  <a:schemeClr val="tx1"/>
                </a:solidFill>
              </a:rPr>
              <a:t>tag_id</a:t>
            </a:r>
            <a:r>
              <a:rPr lang="en-US" dirty="0">
                <a:solidFill>
                  <a:schemeClr val="tx1"/>
                </a:solidFill>
              </a:rPr>
              <a:t>: A distinct identifier representing a tag applied to a photo (e.g., hashtags or keywords).</a:t>
            </a:r>
            <a:endParaRPr lang="en-US" b="1" dirty="0">
              <a:solidFill>
                <a:schemeClr val="tx1"/>
              </a:solidFill>
            </a:endParaRPr>
          </a:p>
          <a:p>
            <a:endParaRPr lang="en-IN" dirty="0"/>
          </a:p>
        </p:txBody>
      </p:sp>
      <p:pic>
        <p:nvPicPr>
          <p:cNvPr id="6" name="Content Placeholder 9">
            <a:extLst>
              <a:ext uri="{FF2B5EF4-FFF2-40B4-BE49-F238E27FC236}">
                <a16:creationId xmlns:a16="http://schemas.microsoft.com/office/drawing/2014/main" id="{316C8D50-2959-D79C-7C3C-828DE6A02513}"/>
              </a:ext>
            </a:extLst>
          </p:cNvPr>
          <p:cNvPicPr>
            <a:picLocks noChangeAspect="1"/>
          </p:cNvPicPr>
          <p:nvPr/>
        </p:nvPicPr>
        <p:blipFill>
          <a:blip r:embed="rId2"/>
          <a:stretch>
            <a:fillRect/>
          </a:stretch>
        </p:blipFill>
        <p:spPr>
          <a:xfrm>
            <a:off x="6846176" y="2747866"/>
            <a:ext cx="2771982" cy="2537862"/>
          </a:xfrm>
          <a:prstGeom prst="rect">
            <a:avLst/>
          </a:prstGeom>
        </p:spPr>
      </p:pic>
    </p:spTree>
    <p:extLst>
      <p:ext uri="{BB962C8B-B14F-4D97-AF65-F5344CB8AC3E}">
        <p14:creationId xmlns:p14="http://schemas.microsoft.com/office/powerpoint/2010/main" val="1087417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30A76-A393-BD9E-FACD-4F2A9A0B8601}"/>
              </a:ext>
            </a:extLst>
          </p:cNvPr>
          <p:cNvSpPr>
            <a:spLocks noGrp="1"/>
          </p:cNvSpPr>
          <p:nvPr>
            <p:ph type="ctrTitle"/>
          </p:nvPr>
        </p:nvSpPr>
        <p:spPr>
          <a:xfrm>
            <a:off x="1507067" y="345233"/>
            <a:ext cx="7766936" cy="1026367"/>
          </a:xfrm>
        </p:spPr>
        <p:txBody>
          <a:bodyPr/>
          <a:lstStyle/>
          <a:p>
            <a:pPr algn="ctr"/>
            <a:r>
              <a:rPr lang="en" b="1" dirty="0"/>
              <a:t>Data Schema</a:t>
            </a:r>
            <a:endParaRPr lang="en-IN" dirty="0"/>
          </a:p>
        </p:txBody>
      </p:sp>
      <p:pic>
        <p:nvPicPr>
          <p:cNvPr id="5" name="Picture 4">
            <a:extLst>
              <a:ext uri="{FF2B5EF4-FFF2-40B4-BE49-F238E27FC236}">
                <a16:creationId xmlns:a16="http://schemas.microsoft.com/office/drawing/2014/main" id="{30B12A12-09A6-6D74-836F-A44E340BC22A}"/>
              </a:ext>
            </a:extLst>
          </p:cNvPr>
          <p:cNvPicPr>
            <a:picLocks noChangeAspect="1"/>
          </p:cNvPicPr>
          <p:nvPr/>
        </p:nvPicPr>
        <p:blipFill>
          <a:blip r:embed="rId2"/>
          <a:stretch>
            <a:fillRect/>
          </a:stretch>
        </p:blipFill>
        <p:spPr>
          <a:xfrm>
            <a:off x="1507067" y="1451125"/>
            <a:ext cx="7521098" cy="4663776"/>
          </a:xfrm>
          <a:prstGeom prst="rect">
            <a:avLst/>
          </a:prstGeom>
        </p:spPr>
      </p:pic>
    </p:spTree>
    <p:extLst>
      <p:ext uri="{BB962C8B-B14F-4D97-AF65-F5344CB8AC3E}">
        <p14:creationId xmlns:p14="http://schemas.microsoft.com/office/powerpoint/2010/main" val="997783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A0BD4-BC0D-4C60-8062-83886356239C}"/>
              </a:ext>
            </a:extLst>
          </p:cNvPr>
          <p:cNvSpPr>
            <a:spLocks noGrp="1"/>
          </p:cNvSpPr>
          <p:nvPr>
            <p:ph type="ctrTitle"/>
          </p:nvPr>
        </p:nvSpPr>
        <p:spPr>
          <a:xfrm>
            <a:off x="1507067" y="867747"/>
            <a:ext cx="7766936" cy="1536787"/>
          </a:xfrm>
        </p:spPr>
        <p:txBody>
          <a:bodyPr/>
          <a:lstStyle/>
          <a:p>
            <a:pPr algn="ctr"/>
            <a:r>
              <a:rPr lang="en-IN" sz="4800" b="1" dirty="0"/>
              <a:t>User Activity Distribution</a:t>
            </a:r>
            <a:br>
              <a:rPr lang="en-IN" b="1" dirty="0">
                <a:solidFill>
                  <a:schemeClr val="tx1"/>
                </a:solidFill>
              </a:rPr>
            </a:br>
            <a:endParaRPr lang="en-IN" dirty="0"/>
          </a:p>
        </p:txBody>
      </p:sp>
      <p:sp>
        <p:nvSpPr>
          <p:cNvPr id="3" name="Subtitle 2">
            <a:extLst>
              <a:ext uri="{FF2B5EF4-FFF2-40B4-BE49-F238E27FC236}">
                <a16:creationId xmlns:a16="http://schemas.microsoft.com/office/drawing/2014/main" id="{26293945-239A-2D9B-8E2E-D80C45B40C34}"/>
              </a:ext>
            </a:extLst>
          </p:cNvPr>
          <p:cNvSpPr>
            <a:spLocks noGrp="1"/>
          </p:cNvSpPr>
          <p:nvPr>
            <p:ph type="subTitle" idx="1"/>
          </p:nvPr>
        </p:nvSpPr>
        <p:spPr>
          <a:xfrm>
            <a:off x="522515" y="2472612"/>
            <a:ext cx="5738326" cy="3900195"/>
          </a:xfrm>
        </p:spPr>
        <p:txBody>
          <a:bodyPr>
            <a:normAutofit fontScale="92500"/>
          </a:bodyPr>
          <a:lstStyle/>
          <a:p>
            <a:pPr lvl="0" algn="l">
              <a:lnSpc>
                <a:spcPct val="115000"/>
              </a:lnSpc>
              <a:spcBef>
                <a:spcPts val="1200"/>
              </a:spcBef>
              <a:buClr>
                <a:schemeClr val="dk1"/>
              </a:buClr>
              <a:buSzPts val="1100"/>
            </a:pPr>
            <a:r>
              <a:rPr lang="en-US" b="1" dirty="0">
                <a:solidFill>
                  <a:schemeClr val="tx1"/>
                </a:solidFill>
              </a:rPr>
              <a:t>Insights:</a:t>
            </a:r>
          </a:p>
          <a:p>
            <a:pPr marL="457200" lvl="0" indent="-311150" algn="l">
              <a:lnSpc>
                <a:spcPct val="115000"/>
              </a:lnSpc>
              <a:spcBef>
                <a:spcPts val="1200"/>
              </a:spcBef>
              <a:buClr>
                <a:schemeClr val="tx1"/>
              </a:buClr>
              <a:buSzPts val="1300"/>
              <a:buChar char="●"/>
            </a:pPr>
            <a:r>
              <a:rPr lang="en-US" dirty="0">
                <a:solidFill>
                  <a:schemeClr val="tx1"/>
                </a:solidFill>
              </a:rPr>
              <a:t>Majority of users (77%) are </a:t>
            </a:r>
            <a:r>
              <a:rPr lang="en-US" b="1" dirty="0">
                <a:solidFill>
                  <a:schemeClr val="tx1"/>
                </a:solidFill>
              </a:rPr>
              <a:t>highly active</a:t>
            </a:r>
            <a:r>
              <a:rPr lang="en-US" dirty="0">
                <a:solidFill>
                  <a:schemeClr val="tx1"/>
                </a:solidFill>
              </a:rPr>
              <a:t>.</a:t>
            </a:r>
          </a:p>
          <a:p>
            <a:pPr marL="457200" lvl="0" indent="-311150" algn="l">
              <a:lnSpc>
                <a:spcPct val="115000"/>
              </a:lnSpc>
              <a:spcBef>
                <a:spcPts val="0"/>
              </a:spcBef>
              <a:buClr>
                <a:schemeClr val="tx1"/>
              </a:buClr>
              <a:buSzPts val="1300"/>
              <a:buChar char="●"/>
            </a:pPr>
            <a:r>
              <a:rPr lang="en-US" dirty="0">
                <a:solidFill>
                  <a:schemeClr val="tx1"/>
                </a:solidFill>
              </a:rPr>
              <a:t>Medium activity users are the smallest group (7%), indicating a core but small segment.</a:t>
            </a:r>
          </a:p>
          <a:p>
            <a:pPr marL="457200" lvl="0" indent="-311150" algn="l">
              <a:lnSpc>
                <a:spcPct val="115000"/>
              </a:lnSpc>
              <a:spcBef>
                <a:spcPts val="0"/>
              </a:spcBef>
              <a:buClr>
                <a:schemeClr val="tx1"/>
              </a:buClr>
              <a:buSzPts val="1300"/>
              <a:buChar char="●"/>
            </a:pPr>
            <a:r>
              <a:rPr lang="en-US" dirty="0">
                <a:solidFill>
                  <a:schemeClr val="tx1"/>
                </a:solidFill>
              </a:rPr>
              <a:t>Low activity users (16%) may need engagement strategies.</a:t>
            </a:r>
          </a:p>
          <a:p>
            <a:pPr lvl="0" algn="l">
              <a:lnSpc>
                <a:spcPct val="115000"/>
              </a:lnSpc>
              <a:spcBef>
                <a:spcPts val="1200"/>
              </a:spcBef>
              <a:buClr>
                <a:schemeClr val="dk1"/>
              </a:buClr>
              <a:buSzPts val="1100"/>
            </a:pPr>
            <a:r>
              <a:rPr lang="en-US" b="1" dirty="0">
                <a:solidFill>
                  <a:schemeClr val="tx1"/>
                </a:solidFill>
              </a:rPr>
              <a:t>Recommendations:</a:t>
            </a:r>
          </a:p>
          <a:p>
            <a:pPr marL="431800" lvl="0" indent="-285750" algn="l">
              <a:lnSpc>
                <a:spcPct val="115000"/>
              </a:lnSpc>
              <a:spcBef>
                <a:spcPts val="1200"/>
              </a:spcBef>
              <a:buClr>
                <a:schemeClr val="tx1"/>
              </a:buClr>
              <a:buSzPts val="1300"/>
              <a:buFont typeface="Wingdings" panose="05000000000000000000" pitchFamily="2" charset="2"/>
              <a:buChar char="§"/>
            </a:pPr>
            <a:r>
              <a:rPr lang="en-US" dirty="0">
                <a:solidFill>
                  <a:schemeClr val="tx1"/>
                </a:solidFill>
              </a:rPr>
              <a:t>Focus on </a:t>
            </a:r>
            <a:r>
              <a:rPr lang="en-US" b="1" dirty="0">
                <a:solidFill>
                  <a:schemeClr val="tx1"/>
                </a:solidFill>
              </a:rPr>
              <a:t>encouraging low activity users</a:t>
            </a:r>
            <a:r>
              <a:rPr lang="en-US" dirty="0">
                <a:solidFill>
                  <a:schemeClr val="tx1"/>
                </a:solidFill>
              </a:rPr>
              <a:t>.</a:t>
            </a:r>
          </a:p>
          <a:p>
            <a:pPr marL="431800" lvl="0" indent="-285750" algn="l">
              <a:lnSpc>
                <a:spcPct val="115000"/>
              </a:lnSpc>
              <a:spcBef>
                <a:spcPts val="0"/>
              </a:spcBef>
              <a:buClr>
                <a:schemeClr val="tx1"/>
              </a:buClr>
              <a:buSzPts val="1300"/>
              <a:buFont typeface="Wingdings" panose="05000000000000000000" pitchFamily="2" charset="2"/>
              <a:buChar char="§"/>
            </a:pPr>
            <a:r>
              <a:rPr lang="en-US" b="1" dirty="0">
                <a:solidFill>
                  <a:schemeClr val="tx1"/>
                </a:solidFill>
              </a:rPr>
              <a:t>Leverage high activity users</a:t>
            </a:r>
            <a:r>
              <a:rPr lang="en-US" dirty="0">
                <a:solidFill>
                  <a:schemeClr val="tx1"/>
                </a:solidFill>
              </a:rPr>
              <a:t> to drive engagement.</a:t>
            </a:r>
          </a:p>
          <a:p>
            <a:pPr marL="431800" lvl="0" indent="-285750" algn="l">
              <a:lnSpc>
                <a:spcPct val="115000"/>
              </a:lnSpc>
              <a:spcBef>
                <a:spcPts val="0"/>
              </a:spcBef>
              <a:buClr>
                <a:schemeClr val="tx1"/>
              </a:buClr>
              <a:buSzPts val="1300"/>
              <a:buFont typeface="Wingdings" panose="05000000000000000000" pitchFamily="2" charset="2"/>
              <a:buChar char="§"/>
            </a:pPr>
            <a:r>
              <a:rPr lang="en-US" dirty="0">
                <a:solidFill>
                  <a:schemeClr val="tx1"/>
                </a:solidFill>
              </a:rPr>
              <a:t>Target </a:t>
            </a:r>
            <a:r>
              <a:rPr lang="en-US" b="1" dirty="0">
                <a:solidFill>
                  <a:schemeClr val="tx1"/>
                </a:solidFill>
              </a:rPr>
              <a:t>medium users</a:t>
            </a:r>
            <a:r>
              <a:rPr lang="en-US" dirty="0">
                <a:solidFill>
                  <a:schemeClr val="tx1"/>
                </a:solidFill>
              </a:rPr>
              <a:t> with campaigns to boost activity</a:t>
            </a:r>
            <a:r>
              <a:rPr lang="en-US" dirty="0">
                <a:solidFill>
                  <a:schemeClr val="lt1"/>
                </a:solidFill>
              </a:rPr>
              <a:t>.</a:t>
            </a:r>
          </a:p>
          <a:p>
            <a:pPr algn="l"/>
            <a:endParaRPr lang="en-IN" dirty="0"/>
          </a:p>
        </p:txBody>
      </p:sp>
      <p:pic>
        <p:nvPicPr>
          <p:cNvPr id="4" name="Google Shape;79;p17">
            <a:extLst>
              <a:ext uri="{FF2B5EF4-FFF2-40B4-BE49-F238E27FC236}">
                <a16:creationId xmlns:a16="http://schemas.microsoft.com/office/drawing/2014/main" id="{59509B42-992A-E27E-59C6-905C2B877964}"/>
              </a:ext>
            </a:extLst>
          </p:cNvPr>
          <p:cNvPicPr preferRelativeResize="0"/>
          <p:nvPr/>
        </p:nvPicPr>
        <p:blipFill>
          <a:blip r:embed="rId2">
            <a:alphaModFix/>
          </a:blip>
          <a:stretch>
            <a:fillRect/>
          </a:stretch>
        </p:blipFill>
        <p:spPr>
          <a:xfrm>
            <a:off x="6095999" y="2404534"/>
            <a:ext cx="3831771" cy="3818984"/>
          </a:xfrm>
          <a:prstGeom prst="rect">
            <a:avLst/>
          </a:prstGeom>
          <a:noFill/>
          <a:ln>
            <a:noFill/>
          </a:ln>
        </p:spPr>
      </p:pic>
    </p:spTree>
    <p:extLst>
      <p:ext uri="{BB962C8B-B14F-4D97-AF65-F5344CB8AC3E}">
        <p14:creationId xmlns:p14="http://schemas.microsoft.com/office/powerpoint/2010/main" val="2072813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A8FF8-74EF-23B0-AB56-270F2F703128}"/>
              </a:ext>
            </a:extLst>
          </p:cNvPr>
          <p:cNvSpPr>
            <a:spLocks noGrp="1"/>
          </p:cNvSpPr>
          <p:nvPr>
            <p:ph type="title"/>
          </p:nvPr>
        </p:nvSpPr>
        <p:spPr>
          <a:xfrm>
            <a:off x="677334" y="214604"/>
            <a:ext cx="8596668" cy="1035698"/>
          </a:xfrm>
        </p:spPr>
        <p:txBody>
          <a:bodyPr>
            <a:normAutofit/>
          </a:bodyPr>
          <a:lstStyle/>
          <a:p>
            <a:pPr algn="ctr"/>
            <a:r>
              <a:rPr lang="en-GB" sz="5400" b="1" dirty="0">
                <a:ea typeface="DM Serif Text"/>
                <a:cs typeface="DM Serif Text"/>
                <a:sym typeface="DM Serif Text"/>
              </a:rPr>
              <a:t>Content Performance</a:t>
            </a:r>
            <a:endParaRPr lang="en-IN" sz="5400" b="1" dirty="0"/>
          </a:p>
        </p:txBody>
      </p:sp>
      <p:sp>
        <p:nvSpPr>
          <p:cNvPr id="3" name="Content Placeholder 2">
            <a:extLst>
              <a:ext uri="{FF2B5EF4-FFF2-40B4-BE49-F238E27FC236}">
                <a16:creationId xmlns:a16="http://schemas.microsoft.com/office/drawing/2014/main" id="{399D9D58-6B63-828F-6AD3-C1B19AE5E6B1}"/>
              </a:ext>
            </a:extLst>
          </p:cNvPr>
          <p:cNvSpPr>
            <a:spLocks noGrp="1"/>
          </p:cNvSpPr>
          <p:nvPr>
            <p:ph sz="half" idx="1"/>
          </p:nvPr>
        </p:nvSpPr>
        <p:spPr>
          <a:xfrm>
            <a:off x="270588" y="1362269"/>
            <a:ext cx="4730620" cy="5141168"/>
          </a:xfrm>
        </p:spPr>
        <p:txBody>
          <a:bodyPr>
            <a:normAutofit fontScale="92500" lnSpcReduction="20000"/>
          </a:bodyPr>
          <a:lstStyle/>
          <a:p>
            <a:pPr marL="914400" indent="-685800">
              <a:buClr>
                <a:schemeClr val="tx1"/>
              </a:buClr>
              <a:buSzPts val="1800"/>
              <a:buFont typeface="Wingdings" panose="05000000000000000000" pitchFamily="2" charset="2"/>
              <a:buChar char="v"/>
            </a:pPr>
            <a:r>
              <a:rPr lang="en-US" dirty="0">
                <a:ea typeface="Times New Roman"/>
                <a:cs typeface="Times New Roman"/>
                <a:sym typeface="Times New Roman"/>
              </a:rPr>
              <a:t>Dreamy Tag has the highest likes where as foodie tags has lowest number of likes.</a:t>
            </a:r>
          </a:p>
          <a:p>
            <a:pPr marL="1371600" indent="-457200">
              <a:buClr>
                <a:schemeClr val="tx1"/>
              </a:buClr>
              <a:buFont typeface="Wingdings" panose="05000000000000000000" pitchFamily="2" charset="2"/>
              <a:buChar char="v"/>
            </a:pPr>
            <a:endParaRPr lang="en-US" dirty="0">
              <a:ea typeface="Times New Roman"/>
              <a:cs typeface="Times New Roman"/>
              <a:sym typeface="Times New Roman"/>
            </a:endParaRPr>
          </a:p>
          <a:p>
            <a:pPr marL="914400" indent="-685800">
              <a:buClr>
                <a:schemeClr val="tx1"/>
              </a:buClr>
              <a:buSzPts val="1800"/>
              <a:buFont typeface="Wingdings" panose="05000000000000000000" pitchFamily="2" charset="2"/>
              <a:buChar char="v"/>
            </a:pPr>
            <a:r>
              <a:rPr lang="en-US" dirty="0">
                <a:ea typeface="Times New Roman"/>
                <a:cs typeface="Times New Roman"/>
                <a:sym typeface="Times New Roman"/>
              </a:rPr>
              <a:t>Hashtags with high count of Likes are the popular tags among all.</a:t>
            </a:r>
          </a:p>
          <a:p>
            <a:pPr marL="1371600" indent="-457200">
              <a:buClr>
                <a:schemeClr val="tx1"/>
              </a:buClr>
              <a:buSzPts val="1800"/>
              <a:buFont typeface="Wingdings" panose="05000000000000000000" pitchFamily="2" charset="2"/>
              <a:buChar char="v"/>
            </a:pPr>
            <a:endParaRPr lang="en-US" dirty="0">
              <a:ea typeface="Times New Roman"/>
              <a:cs typeface="Times New Roman"/>
              <a:sym typeface="Times New Roman"/>
            </a:endParaRPr>
          </a:p>
          <a:p>
            <a:pPr marL="914400" indent="-685800">
              <a:buClr>
                <a:schemeClr val="tx1"/>
              </a:buClr>
              <a:buSzPts val="1800"/>
              <a:buFont typeface="Wingdings" panose="05000000000000000000" pitchFamily="2" charset="2"/>
              <a:buChar char="v"/>
            </a:pPr>
            <a:r>
              <a:rPr lang="en-US" dirty="0">
                <a:ea typeface="Times New Roman"/>
                <a:cs typeface="Times New Roman"/>
                <a:sym typeface="Times New Roman"/>
              </a:rPr>
              <a:t>Popular tags will be promoted and influencers will promote popular tags by using them in their posts.</a:t>
            </a:r>
          </a:p>
          <a:p>
            <a:pPr marL="457200" indent="-457200">
              <a:buClr>
                <a:schemeClr val="tx1"/>
              </a:buClr>
              <a:buSzPts val="1800"/>
              <a:buFont typeface="Wingdings" panose="05000000000000000000" pitchFamily="2" charset="2"/>
              <a:buChar char="v"/>
            </a:pPr>
            <a:endParaRPr lang="en-US" dirty="0">
              <a:ea typeface="Times New Roman"/>
              <a:cs typeface="Times New Roman"/>
              <a:sym typeface="Times New Roman"/>
            </a:endParaRPr>
          </a:p>
          <a:p>
            <a:pPr marL="914400" indent="-685800">
              <a:buClr>
                <a:schemeClr val="tx1"/>
              </a:buClr>
              <a:buSzPts val="1800"/>
              <a:buFont typeface="Wingdings" panose="05000000000000000000" pitchFamily="2" charset="2"/>
              <a:buChar char="v"/>
            </a:pPr>
            <a:r>
              <a:rPr lang="en-US" dirty="0">
                <a:ea typeface="Times New Roman"/>
                <a:cs typeface="Times New Roman"/>
                <a:sym typeface="Times New Roman"/>
              </a:rPr>
              <a:t>Contents related to these tags should be frequently shown on explore pages of the users to engage them.</a:t>
            </a:r>
          </a:p>
          <a:p>
            <a:pPr marL="457200" indent="-457200">
              <a:buClr>
                <a:schemeClr val="tx1"/>
              </a:buClr>
              <a:buSzPts val="1800"/>
              <a:buFont typeface="Wingdings" panose="05000000000000000000" pitchFamily="2" charset="2"/>
              <a:buChar char="v"/>
            </a:pPr>
            <a:endParaRPr lang="en-US" dirty="0">
              <a:ea typeface="Times New Roman"/>
              <a:cs typeface="Times New Roman"/>
              <a:sym typeface="Times New Roman"/>
            </a:endParaRPr>
          </a:p>
          <a:p>
            <a:pPr marL="914400" indent="-685800">
              <a:buClr>
                <a:schemeClr val="tx1"/>
              </a:buClr>
              <a:buSzPts val="1800"/>
              <a:buFont typeface="Wingdings" panose="05000000000000000000" pitchFamily="2" charset="2"/>
              <a:buChar char="v"/>
            </a:pPr>
            <a:r>
              <a:rPr lang="en-US" dirty="0">
                <a:ea typeface="Times New Roman"/>
                <a:cs typeface="Times New Roman"/>
                <a:sym typeface="Times New Roman"/>
              </a:rPr>
              <a:t>Tags other than dreamy have very much same no. of likes so they should also be </a:t>
            </a:r>
            <a:r>
              <a:rPr lang="en-US" dirty="0" err="1">
                <a:ea typeface="Times New Roman"/>
                <a:cs typeface="Times New Roman"/>
                <a:sym typeface="Times New Roman"/>
              </a:rPr>
              <a:t>optimised</a:t>
            </a:r>
            <a:endParaRPr lang="en-IN" dirty="0"/>
          </a:p>
        </p:txBody>
      </p:sp>
      <p:pic>
        <p:nvPicPr>
          <p:cNvPr id="6" name="Content Placeholder 5">
            <a:extLst>
              <a:ext uri="{FF2B5EF4-FFF2-40B4-BE49-F238E27FC236}">
                <a16:creationId xmlns:a16="http://schemas.microsoft.com/office/drawing/2014/main" id="{E8CC06A7-0B58-6DC7-2B26-547A1767D7F7}"/>
              </a:ext>
            </a:extLst>
          </p:cNvPr>
          <p:cNvPicPr>
            <a:picLocks noGrp="1" noChangeAspect="1"/>
          </p:cNvPicPr>
          <p:nvPr>
            <p:ph sz="half" idx="2"/>
          </p:nvPr>
        </p:nvPicPr>
        <p:blipFill>
          <a:blip r:embed="rId2"/>
          <a:stretch>
            <a:fillRect/>
          </a:stretch>
        </p:blipFill>
        <p:spPr>
          <a:xfrm>
            <a:off x="4916762" y="1912775"/>
            <a:ext cx="4683984" cy="3820491"/>
          </a:xfrm>
          <a:prstGeom prst="rect">
            <a:avLst/>
          </a:prstGeom>
        </p:spPr>
      </p:pic>
    </p:spTree>
    <p:extLst>
      <p:ext uri="{BB962C8B-B14F-4D97-AF65-F5344CB8AC3E}">
        <p14:creationId xmlns:p14="http://schemas.microsoft.com/office/powerpoint/2010/main" val="3853855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1AFA2-612E-A9D5-D343-C2CFF541DBBE}"/>
              </a:ext>
            </a:extLst>
          </p:cNvPr>
          <p:cNvSpPr>
            <a:spLocks noGrp="1"/>
          </p:cNvSpPr>
          <p:nvPr>
            <p:ph type="title"/>
          </p:nvPr>
        </p:nvSpPr>
        <p:spPr/>
        <p:txBody>
          <a:bodyPr/>
          <a:lstStyle/>
          <a:p>
            <a:r>
              <a:rPr lang="en" b="1" dirty="0"/>
              <a:t>Top Users by Average Engagement per Post</a:t>
            </a:r>
            <a:endParaRPr lang="en-IN" dirty="0"/>
          </a:p>
        </p:txBody>
      </p:sp>
      <p:sp>
        <p:nvSpPr>
          <p:cNvPr id="3" name="Content Placeholder 2">
            <a:extLst>
              <a:ext uri="{FF2B5EF4-FFF2-40B4-BE49-F238E27FC236}">
                <a16:creationId xmlns:a16="http://schemas.microsoft.com/office/drawing/2014/main" id="{90DEB5C1-E5D8-7D96-3CFA-2A539DCCB0DB}"/>
              </a:ext>
            </a:extLst>
          </p:cNvPr>
          <p:cNvSpPr>
            <a:spLocks noGrp="1"/>
          </p:cNvSpPr>
          <p:nvPr>
            <p:ph sz="half" idx="1"/>
          </p:nvPr>
        </p:nvSpPr>
        <p:spPr>
          <a:xfrm>
            <a:off x="93306" y="1707502"/>
            <a:ext cx="4996664" cy="4842588"/>
          </a:xfrm>
        </p:spPr>
        <p:txBody>
          <a:bodyPr>
            <a:normAutofit lnSpcReduction="10000"/>
          </a:bodyPr>
          <a:lstStyle/>
          <a:p>
            <a:pPr lvl="0">
              <a:lnSpc>
                <a:spcPct val="115000"/>
              </a:lnSpc>
              <a:spcBef>
                <a:spcPts val="1200"/>
              </a:spcBef>
            </a:pPr>
            <a:r>
              <a:rPr lang="en-US" sz="1600" b="1" dirty="0">
                <a:solidFill>
                  <a:schemeClr val="tx1"/>
                </a:solidFill>
              </a:rPr>
              <a:t>Key Insights:</a:t>
            </a:r>
          </a:p>
          <a:p>
            <a:pPr marL="457200" lvl="0" indent="-311150">
              <a:lnSpc>
                <a:spcPct val="115000"/>
              </a:lnSpc>
              <a:spcBef>
                <a:spcPts val="1200"/>
              </a:spcBef>
              <a:buClr>
                <a:schemeClr val="tx1"/>
              </a:buClr>
              <a:buSzPts val="1300"/>
              <a:buFont typeface="Arial" panose="020B0604020202020204" pitchFamily="34" charset="0"/>
              <a:buChar char="•"/>
            </a:pPr>
            <a:r>
              <a:rPr lang="en-US" dirty="0">
                <a:solidFill>
                  <a:schemeClr val="tx1"/>
                </a:solidFill>
              </a:rPr>
              <a:t>These users consistently get </a:t>
            </a:r>
            <a:r>
              <a:rPr lang="en-US" b="1" dirty="0">
                <a:solidFill>
                  <a:schemeClr val="tx1"/>
                </a:solidFill>
              </a:rPr>
              <a:t>high engagement</a:t>
            </a:r>
            <a:r>
              <a:rPr lang="en-US" dirty="0">
                <a:solidFill>
                  <a:schemeClr val="tx1"/>
                </a:solidFill>
              </a:rPr>
              <a:t>.</a:t>
            </a:r>
          </a:p>
          <a:p>
            <a:pPr marL="457200" lvl="0" indent="-311150">
              <a:lnSpc>
                <a:spcPct val="115000"/>
              </a:lnSpc>
              <a:spcBef>
                <a:spcPts val="0"/>
              </a:spcBef>
              <a:buClr>
                <a:schemeClr val="tx1"/>
              </a:buClr>
              <a:buSzPts val="1300"/>
              <a:buFont typeface="Arial" panose="020B0604020202020204" pitchFamily="34" charset="0"/>
              <a:buChar char="•"/>
            </a:pPr>
            <a:r>
              <a:rPr lang="en-US" dirty="0">
                <a:solidFill>
                  <a:schemeClr val="tx1"/>
                </a:solidFill>
              </a:rPr>
              <a:t>Their content resonates strongly, indicating </a:t>
            </a:r>
            <a:r>
              <a:rPr lang="en-US" b="1" dirty="0">
                <a:solidFill>
                  <a:schemeClr val="tx1"/>
                </a:solidFill>
              </a:rPr>
              <a:t>influential reach</a:t>
            </a:r>
            <a:r>
              <a:rPr lang="en-US" dirty="0">
                <a:solidFill>
                  <a:schemeClr val="tx1"/>
                </a:solidFill>
              </a:rPr>
              <a:t>.</a:t>
            </a:r>
          </a:p>
          <a:p>
            <a:pPr marL="457200" lvl="0" indent="-311150">
              <a:lnSpc>
                <a:spcPct val="115000"/>
              </a:lnSpc>
              <a:spcBef>
                <a:spcPts val="0"/>
              </a:spcBef>
              <a:buClr>
                <a:schemeClr val="tx1"/>
              </a:buClr>
              <a:buSzPts val="1300"/>
              <a:buFont typeface="Arial" panose="020B0604020202020204" pitchFamily="34" charset="0"/>
              <a:buChar char="•"/>
            </a:pPr>
            <a:r>
              <a:rPr lang="en-US" dirty="0">
                <a:solidFill>
                  <a:schemeClr val="tx1"/>
                </a:solidFill>
              </a:rPr>
              <a:t>Can guide </a:t>
            </a:r>
            <a:r>
              <a:rPr lang="en-US" b="1" dirty="0">
                <a:solidFill>
                  <a:schemeClr val="tx1"/>
                </a:solidFill>
              </a:rPr>
              <a:t>content strategy and influencer campaigns</a:t>
            </a:r>
            <a:r>
              <a:rPr lang="en-US" dirty="0">
                <a:solidFill>
                  <a:schemeClr val="tx1"/>
                </a:solidFill>
              </a:rPr>
              <a:t>.</a:t>
            </a:r>
          </a:p>
          <a:p>
            <a:pPr lvl="0">
              <a:lnSpc>
                <a:spcPct val="115000"/>
              </a:lnSpc>
              <a:spcBef>
                <a:spcPts val="1200"/>
              </a:spcBef>
            </a:pPr>
            <a:r>
              <a:rPr lang="en-US" sz="1600" b="1" dirty="0">
                <a:solidFill>
                  <a:schemeClr val="tx1"/>
                </a:solidFill>
              </a:rPr>
              <a:t>Recommendations</a:t>
            </a:r>
            <a:r>
              <a:rPr lang="en-US" sz="1400" b="1" dirty="0">
                <a:solidFill>
                  <a:schemeClr val="tx1"/>
                </a:solidFill>
              </a:rPr>
              <a:t>:</a:t>
            </a:r>
          </a:p>
          <a:p>
            <a:pPr marL="457200" lvl="0" indent="-311150">
              <a:lnSpc>
                <a:spcPct val="115000"/>
              </a:lnSpc>
              <a:spcBef>
                <a:spcPts val="1200"/>
              </a:spcBef>
              <a:buClr>
                <a:schemeClr val="tx1"/>
              </a:buClr>
              <a:buSzPts val="1300"/>
              <a:buFont typeface="Arial" panose="020B0604020202020204" pitchFamily="34" charset="0"/>
              <a:buChar char="•"/>
            </a:pPr>
            <a:r>
              <a:rPr lang="en-US" dirty="0">
                <a:solidFill>
                  <a:schemeClr val="tx1"/>
                </a:solidFill>
              </a:rPr>
              <a:t>Partner with them for </a:t>
            </a:r>
            <a:r>
              <a:rPr lang="en-US" b="1" dirty="0">
                <a:solidFill>
                  <a:schemeClr val="tx1"/>
                </a:solidFill>
              </a:rPr>
              <a:t>promotions or campaigns</a:t>
            </a:r>
            <a:r>
              <a:rPr lang="en-US" dirty="0">
                <a:solidFill>
                  <a:schemeClr val="tx1"/>
                </a:solidFill>
              </a:rPr>
              <a:t>.</a:t>
            </a:r>
          </a:p>
          <a:p>
            <a:pPr marL="457200" lvl="0" indent="-311150">
              <a:lnSpc>
                <a:spcPct val="115000"/>
              </a:lnSpc>
              <a:spcBef>
                <a:spcPts val="0"/>
              </a:spcBef>
              <a:buClr>
                <a:schemeClr val="tx1"/>
              </a:buClr>
              <a:buSzPts val="1300"/>
              <a:buFont typeface="Arial" panose="020B0604020202020204" pitchFamily="34" charset="0"/>
              <a:buChar char="•"/>
            </a:pPr>
            <a:r>
              <a:rPr lang="en-US" dirty="0">
                <a:solidFill>
                  <a:schemeClr val="tx1"/>
                </a:solidFill>
              </a:rPr>
              <a:t>Analyze their content style to </a:t>
            </a:r>
            <a:r>
              <a:rPr lang="en-US" b="1" dirty="0">
                <a:solidFill>
                  <a:schemeClr val="tx1"/>
                </a:solidFill>
              </a:rPr>
              <a:t>boost engagement platform-wide</a:t>
            </a:r>
            <a:r>
              <a:rPr lang="en-US" dirty="0">
                <a:solidFill>
                  <a:schemeClr val="tx1"/>
                </a:solidFill>
              </a:rPr>
              <a:t>.</a:t>
            </a:r>
          </a:p>
          <a:p>
            <a:pPr marL="457200" lvl="0" indent="-311150">
              <a:lnSpc>
                <a:spcPct val="115000"/>
              </a:lnSpc>
              <a:spcBef>
                <a:spcPts val="0"/>
              </a:spcBef>
              <a:buClr>
                <a:schemeClr val="tx1"/>
              </a:buClr>
              <a:buSzPts val="1300"/>
              <a:buFont typeface="Arial" panose="020B0604020202020204" pitchFamily="34" charset="0"/>
              <a:buChar char="•"/>
            </a:pPr>
            <a:r>
              <a:rPr lang="en-US" dirty="0">
                <a:solidFill>
                  <a:schemeClr val="tx1"/>
                </a:solidFill>
              </a:rPr>
              <a:t>Recognize/reward these users to </a:t>
            </a:r>
            <a:r>
              <a:rPr lang="en-US" b="1" dirty="0">
                <a:solidFill>
                  <a:schemeClr val="tx1"/>
                </a:solidFill>
              </a:rPr>
              <a:t>maintain high activity</a:t>
            </a:r>
            <a:r>
              <a:rPr lang="en-US" dirty="0">
                <a:solidFill>
                  <a:schemeClr val="tx1"/>
                </a:solidFill>
              </a:rPr>
              <a:t>.</a:t>
            </a:r>
            <a:endParaRPr lang="en-US" sz="2000" dirty="0">
              <a:solidFill>
                <a:schemeClr val="tx1"/>
              </a:solidFill>
            </a:endParaRPr>
          </a:p>
          <a:p>
            <a:pPr marL="0" indent="0">
              <a:buNone/>
            </a:pPr>
            <a:endParaRPr lang="en-IN" dirty="0"/>
          </a:p>
        </p:txBody>
      </p:sp>
      <p:pic>
        <p:nvPicPr>
          <p:cNvPr id="6" name="Picture 5">
            <a:extLst>
              <a:ext uri="{FF2B5EF4-FFF2-40B4-BE49-F238E27FC236}">
                <a16:creationId xmlns:a16="http://schemas.microsoft.com/office/drawing/2014/main" id="{790C0FA0-CCA9-8648-8DE2-CEE5775A4062}"/>
              </a:ext>
            </a:extLst>
          </p:cNvPr>
          <p:cNvPicPr>
            <a:picLocks noChangeAspect="1"/>
          </p:cNvPicPr>
          <p:nvPr/>
        </p:nvPicPr>
        <p:blipFill>
          <a:blip r:embed="rId2"/>
          <a:stretch>
            <a:fillRect/>
          </a:stretch>
        </p:blipFill>
        <p:spPr>
          <a:xfrm>
            <a:off x="4627984" y="1405813"/>
            <a:ext cx="5122507" cy="4570046"/>
          </a:xfrm>
          <a:prstGeom prst="rect">
            <a:avLst/>
          </a:prstGeom>
        </p:spPr>
      </p:pic>
    </p:spTree>
    <p:extLst>
      <p:ext uri="{BB962C8B-B14F-4D97-AF65-F5344CB8AC3E}">
        <p14:creationId xmlns:p14="http://schemas.microsoft.com/office/powerpoint/2010/main" val="1903883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E9B38-C253-71F5-DF37-4E899DD171B7}"/>
              </a:ext>
            </a:extLst>
          </p:cNvPr>
          <p:cNvSpPr>
            <a:spLocks noGrp="1"/>
          </p:cNvSpPr>
          <p:nvPr>
            <p:ph type="ctrTitle"/>
          </p:nvPr>
        </p:nvSpPr>
        <p:spPr>
          <a:xfrm>
            <a:off x="1507067" y="961053"/>
            <a:ext cx="7766936" cy="749215"/>
          </a:xfrm>
        </p:spPr>
        <p:txBody>
          <a:bodyPr/>
          <a:lstStyle/>
          <a:p>
            <a:pPr algn="ctr"/>
            <a:r>
              <a:rPr lang="en" sz="4000" b="1" dirty="0"/>
              <a:t>Hashtags Driving Highest Engagement</a:t>
            </a:r>
            <a:endParaRPr lang="en-IN" sz="4000" dirty="0"/>
          </a:p>
        </p:txBody>
      </p:sp>
      <p:sp>
        <p:nvSpPr>
          <p:cNvPr id="3" name="Subtitle 2">
            <a:extLst>
              <a:ext uri="{FF2B5EF4-FFF2-40B4-BE49-F238E27FC236}">
                <a16:creationId xmlns:a16="http://schemas.microsoft.com/office/drawing/2014/main" id="{26244855-7C76-908D-E855-6645EDB9ED9D}"/>
              </a:ext>
            </a:extLst>
          </p:cNvPr>
          <p:cNvSpPr>
            <a:spLocks noGrp="1"/>
          </p:cNvSpPr>
          <p:nvPr>
            <p:ph type="subTitle" idx="1"/>
          </p:nvPr>
        </p:nvSpPr>
        <p:spPr>
          <a:xfrm>
            <a:off x="1175657" y="2090057"/>
            <a:ext cx="7865706" cy="4226766"/>
          </a:xfrm>
        </p:spPr>
        <p:txBody>
          <a:bodyPr>
            <a:normAutofit/>
          </a:bodyPr>
          <a:lstStyle/>
          <a:p>
            <a:pPr lvl="0" algn="l">
              <a:spcBef>
                <a:spcPts val="1200"/>
              </a:spcBef>
            </a:pPr>
            <a:r>
              <a:rPr lang="en-US" sz="1600" dirty="0">
                <a:solidFill>
                  <a:schemeClr val="tx1"/>
                </a:solidFill>
              </a:rPr>
              <a:t>Output Story:</a:t>
            </a:r>
          </a:p>
          <a:p>
            <a:pPr marL="457200" lvl="0" indent="-311150" algn="l">
              <a:spcBef>
                <a:spcPts val="1200"/>
              </a:spcBef>
              <a:buClr>
                <a:schemeClr val="tx1"/>
              </a:buClr>
              <a:buSzPts val="1300"/>
              <a:buChar char="●"/>
            </a:pPr>
            <a:r>
              <a:rPr lang="en-US" sz="1600" dirty="0">
                <a:solidFill>
                  <a:schemeClr val="tx1"/>
                </a:solidFill>
              </a:rPr>
              <a:t>Among all hashtags, #dreamy stands out with an average of 35.75 likes per post.</a:t>
            </a:r>
          </a:p>
          <a:p>
            <a:pPr marL="457200" lvl="0" indent="-311150" algn="l">
              <a:spcBef>
                <a:spcPts val="0"/>
              </a:spcBef>
              <a:buClr>
                <a:schemeClr val="tx1"/>
              </a:buClr>
              <a:buSzPts val="1300"/>
              <a:buChar char="●"/>
            </a:pPr>
            <a:r>
              <a:rPr lang="en-US" sz="1600" dirty="0">
                <a:solidFill>
                  <a:schemeClr val="tx1"/>
                </a:solidFill>
              </a:rPr>
              <a:t>This indicates that posts tagged with #dreamy capture users’ attention and consistently generate engagement.</a:t>
            </a:r>
          </a:p>
          <a:p>
            <a:pPr marL="457200" lvl="0" indent="-311150" algn="l">
              <a:spcBef>
                <a:spcPts val="0"/>
              </a:spcBef>
              <a:buClr>
                <a:schemeClr val="tx1"/>
              </a:buClr>
              <a:buSzPts val="1300"/>
              <a:buChar char="●"/>
            </a:pPr>
            <a:r>
              <a:rPr lang="en-US" sz="1600" dirty="0">
                <a:solidFill>
                  <a:schemeClr val="tx1"/>
                </a:solidFill>
              </a:rPr>
              <a:t>It’s clear that content associated with dreamy, visually appealing, or aspirational themes resonates most with the Instagram audience.</a:t>
            </a:r>
          </a:p>
          <a:p>
            <a:pPr lvl="0" algn="l">
              <a:spcBef>
                <a:spcPts val="1200"/>
              </a:spcBef>
            </a:pPr>
            <a:r>
              <a:rPr lang="en-US" sz="1600" dirty="0">
                <a:solidFill>
                  <a:schemeClr val="tx1"/>
                </a:solidFill>
              </a:rPr>
              <a:t>Observations:</a:t>
            </a:r>
          </a:p>
          <a:p>
            <a:pPr marL="457200" lvl="0" indent="-311150" algn="l">
              <a:spcBef>
                <a:spcPts val="1200"/>
              </a:spcBef>
              <a:buClr>
                <a:schemeClr val="tx1"/>
              </a:buClr>
              <a:buSzPts val="1300"/>
              <a:buAutoNum type="arabicPeriod"/>
            </a:pPr>
            <a:r>
              <a:rPr lang="en-US" sz="1600" dirty="0">
                <a:solidFill>
                  <a:schemeClr val="tx1"/>
                </a:solidFill>
              </a:rPr>
              <a:t>dreamy leads in engagement, suggesting user preference for visually aesthetic or inspirational content.</a:t>
            </a:r>
          </a:p>
          <a:p>
            <a:pPr marL="457200" lvl="0" indent="-311150" algn="l">
              <a:spcBef>
                <a:spcPts val="0"/>
              </a:spcBef>
              <a:buClr>
                <a:schemeClr val="tx1"/>
              </a:buClr>
              <a:buSzPts val="1300"/>
              <a:buAutoNum type="arabicPeriod"/>
            </a:pPr>
            <a:r>
              <a:rPr lang="en-US" sz="1600" dirty="0">
                <a:solidFill>
                  <a:schemeClr val="tx1"/>
                </a:solidFill>
              </a:rPr>
              <a:t>Trending hashtags significantly boost visibility and interaction.</a:t>
            </a:r>
          </a:p>
          <a:p>
            <a:pPr marL="457200" lvl="0" indent="-311150" algn="l">
              <a:spcBef>
                <a:spcPts val="0"/>
              </a:spcBef>
              <a:buClr>
                <a:schemeClr val="tx1"/>
              </a:buClr>
              <a:buSzPts val="1300"/>
              <a:buAutoNum type="arabicPeriod"/>
            </a:pPr>
            <a:r>
              <a:rPr lang="en-US" sz="1600" dirty="0">
                <a:solidFill>
                  <a:schemeClr val="tx1"/>
                </a:solidFill>
              </a:rPr>
              <a:t>Other high-performing hashtags can provide additional insights into popular content themes.</a:t>
            </a:r>
          </a:p>
          <a:p>
            <a:pPr marL="914400" indent="-685800" algn="l">
              <a:buClr>
                <a:schemeClr val="tx1"/>
              </a:buClr>
              <a:buSzPts val="1800"/>
              <a:buFont typeface="Wingdings" panose="05000000000000000000" pitchFamily="2" charset="2"/>
              <a:buChar char="v"/>
            </a:pPr>
            <a:endParaRPr lang="en-IN" dirty="0"/>
          </a:p>
        </p:txBody>
      </p:sp>
    </p:spTree>
    <p:extLst>
      <p:ext uri="{BB962C8B-B14F-4D97-AF65-F5344CB8AC3E}">
        <p14:creationId xmlns:p14="http://schemas.microsoft.com/office/powerpoint/2010/main" val="4051192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517A7-29A3-CA0F-1032-2694D77C17A1}"/>
              </a:ext>
            </a:extLst>
          </p:cNvPr>
          <p:cNvSpPr>
            <a:spLocks noGrp="1"/>
          </p:cNvSpPr>
          <p:nvPr>
            <p:ph type="ctrTitle"/>
          </p:nvPr>
        </p:nvSpPr>
        <p:spPr>
          <a:xfrm>
            <a:off x="1507067" y="177282"/>
            <a:ext cx="7766936" cy="1240971"/>
          </a:xfrm>
        </p:spPr>
        <p:txBody>
          <a:bodyPr/>
          <a:lstStyle/>
          <a:p>
            <a:pPr algn="ctr"/>
            <a:r>
              <a:rPr lang="en" b="1" dirty="0"/>
              <a:t>Summary</a:t>
            </a:r>
            <a:endParaRPr lang="en-IN" dirty="0"/>
          </a:p>
        </p:txBody>
      </p:sp>
      <p:sp>
        <p:nvSpPr>
          <p:cNvPr id="3" name="Subtitle 2">
            <a:extLst>
              <a:ext uri="{FF2B5EF4-FFF2-40B4-BE49-F238E27FC236}">
                <a16:creationId xmlns:a16="http://schemas.microsoft.com/office/drawing/2014/main" id="{7ADE7388-571A-6E9E-567E-CFCE5054F391}"/>
              </a:ext>
            </a:extLst>
          </p:cNvPr>
          <p:cNvSpPr>
            <a:spLocks noGrp="1"/>
          </p:cNvSpPr>
          <p:nvPr>
            <p:ph type="subTitle" idx="1"/>
          </p:nvPr>
        </p:nvSpPr>
        <p:spPr>
          <a:xfrm>
            <a:off x="1380931" y="2034073"/>
            <a:ext cx="7893072" cy="4208107"/>
          </a:xfrm>
        </p:spPr>
        <p:txBody>
          <a:bodyPr>
            <a:normAutofit/>
          </a:bodyPr>
          <a:lstStyle/>
          <a:p>
            <a:pPr marL="457200" lvl="0" indent="-309245" algn="l">
              <a:lnSpc>
                <a:spcPct val="95000"/>
              </a:lnSpc>
              <a:spcBef>
                <a:spcPts val="1200"/>
              </a:spcBef>
              <a:buClr>
                <a:schemeClr val="tx1"/>
              </a:buClr>
              <a:buSzPts val="1270"/>
              <a:buFont typeface="Arial" panose="020B0604020202020204" pitchFamily="34" charset="0"/>
              <a:buChar char="•"/>
            </a:pPr>
            <a:r>
              <a:rPr lang="en-US" sz="1600" dirty="0">
                <a:solidFill>
                  <a:schemeClr val="tx1"/>
                </a:solidFill>
              </a:rPr>
              <a:t>Checked for duplicates and missing values; data integrity is intact.</a:t>
            </a:r>
          </a:p>
          <a:p>
            <a:pPr marL="147955" lvl="0" algn="l">
              <a:lnSpc>
                <a:spcPct val="95000"/>
              </a:lnSpc>
              <a:spcBef>
                <a:spcPts val="1200"/>
              </a:spcBef>
              <a:buClr>
                <a:schemeClr val="tx1"/>
              </a:buClr>
              <a:buSzPts val="1270"/>
            </a:pPr>
            <a:endParaRPr lang="en-US" sz="1600" dirty="0">
              <a:solidFill>
                <a:schemeClr val="tx1"/>
              </a:solidFill>
            </a:endParaRPr>
          </a:p>
          <a:p>
            <a:pPr marL="457200" lvl="0" indent="-309245" algn="l">
              <a:lnSpc>
                <a:spcPct val="95000"/>
              </a:lnSpc>
              <a:spcBef>
                <a:spcPts val="0"/>
              </a:spcBef>
              <a:buClr>
                <a:schemeClr val="tx1"/>
              </a:buClr>
              <a:buSzPts val="1270"/>
              <a:buFont typeface="Arial" panose="020B0604020202020204" pitchFamily="34" charset="0"/>
              <a:buChar char="•"/>
            </a:pPr>
            <a:r>
              <a:rPr lang="en-US" sz="1600" dirty="0">
                <a:solidFill>
                  <a:schemeClr val="tx1"/>
                </a:solidFill>
              </a:rPr>
              <a:t>User engagement varies: identified Top 5 users with the highest average engagement.</a:t>
            </a:r>
          </a:p>
          <a:p>
            <a:pPr marL="147955" lvl="0" algn="l">
              <a:lnSpc>
                <a:spcPct val="95000"/>
              </a:lnSpc>
              <a:spcBef>
                <a:spcPts val="0"/>
              </a:spcBef>
              <a:buClr>
                <a:schemeClr val="tx1"/>
              </a:buClr>
              <a:buSzPts val="1270"/>
            </a:pPr>
            <a:endParaRPr lang="en-US" sz="1600" dirty="0">
              <a:solidFill>
                <a:schemeClr val="tx1"/>
              </a:solidFill>
            </a:endParaRPr>
          </a:p>
          <a:p>
            <a:pPr marL="457200" lvl="0" indent="-309245" algn="l">
              <a:lnSpc>
                <a:spcPct val="95000"/>
              </a:lnSpc>
              <a:spcBef>
                <a:spcPts val="0"/>
              </a:spcBef>
              <a:buClr>
                <a:schemeClr val="tx1"/>
              </a:buClr>
              <a:buSzPts val="1270"/>
              <a:buFont typeface="Arial" panose="020B0604020202020204" pitchFamily="34" charset="0"/>
              <a:buChar char="•"/>
            </a:pPr>
            <a:r>
              <a:rPr lang="en-US" sz="1600" dirty="0">
                <a:solidFill>
                  <a:schemeClr val="tx1"/>
                </a:solidFill>
              </a:rPr>
              <a:t>#dreamy is the most engaging hashtag, indicating user preference for aspirational or visually appealing content.</a:t>
            </a:r>
          </a:p>
          <a:p>
            <a:pPr marL="147955" lvl="0" algn="l">
              <a:lnSpc>
                <a:spcPct val="95000"/>
              </a:lnSpc>
              <a:spcBef>
                <a:spcPts val="0"/>
              </a:spcBef>
              <a:buClr>
                <a:schemeClr val="tx1"/>
              </a:buClr>
              <a:buSzPts val="1270"/>
            </a:pPr>
            <a:endParaRPr lang="en-US" sz="1600" dirty="0">
              <a:solidFill>
                <a:schemeClr val="tx1"/>
              </a:solidFill>
            </a:endParaRPr>
          </a:p>
          <a:p>
            <a:pPr marL="457200" lvl="0" indent="-309245" algn="l">
              <a:lnSpc>
                <a:spcPct val="95000"/>
              </a:lnSpc>
              <a:spcBef>
                <a:spcPts val="0"/>
              </a:spcBef>
              <a:buClr>
                <a:schemeClr val="tx1"/>
              </a:buClr>
              <a:buSzPts val="1270"/>
              <a:buFont typeface="Arial" panose="020B0604020202020204" pitchFamily="34" charset="0"/>
              <a:buChar char="•"/>
            </a:pPr>
            <a:r>
              <a:rPr lang="en-US" sz="1600" dirty="0">
                <a:solidFill>
                  <a:schemeClr val="tx1"/>
                </a:solidFill>
              </a:rPr>
              <a:t>Follower and </a:t>
            </a:r>
            <a:r>
              <a:rPr lang="en-US" sz="1600" dirty="0" err="1">
                <a:solidFill>
                  <a:schemeClr val="tx1"/>
                </a:solidFill>
              </a:rPr>
              <a:t>followee</a:t>
            </a:r>
            <a:r>
              <a:rPr lang="en-US" sz="1600" dirty="0">
                <a:solidFill>
                  <a:schemeClr val="tx1"/>
                </a:solidFill>
              </a:rPr>
              <a:t> analysis highlights highly connected users for potential influencer collaboration.</a:t>
            </a:r>
          </a:p>
          <a:p>
            <a:endParaRPr lang="en-IN" dirty="0"/>
          </a:p>
        </p:txBody>
      </p:sp>
    </p:spTree>
    <p:extLst>
      <p:ext uri="{BB962C8B-B14F-4D97-AF65-F5344CB8AC3E}">
        <p14:creationId xmlns:p14="http://schemas.microsoft.com/office/powerpoint/2010/main" val="3332704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65E15-5B42-CB54-6EE3-4F1FDC688B35}"/>
              </a:ext>
            </a:extLst>
          </p:cNvPr>
          <p:cNvSpPr>
            <a:spLocks noGrp="1"/>
          </p:cNvSpPr>
          <p:nvPr>
            <p:ph type="title"/>
          </p:nvPr>
        </p:nvSpPr>
        <p:spPr/>
        <p:txBody>
          <a:bodyPr/>
          <a:lstStyle/>
          <a:p>
            <a:pPr algn="ctr"/>
            <a:r>
              <a:rPr lang="en" b="1" dirty="0"/>
              <a:t>Key Recommendations</a:t>
            </a:r>
            <a:endParaRPr lang="en-IN" dirty="0"/>
          </a:p>
        </p:txBody>
      </p:sp>
      <p:sp>
        <p:nvSpPr>
          <p:cNvPr id="3" name="Content Placeholder 2">
            <a:extLst>
              <a:ext uri="{FF2B5EF4-FFF2-40B4-BE49-F238E27FC236}">
                <a16:creationId xmlns:a16="http://schemas.microsoft.com/office/drawing/2014/main" id="{17E3689F-E7CD-663C-F786-67AFC3260C35}"/>
              </a:ext>
            </a:extLst>
          </p:cNvPr>
          <p:cNvSpPr>
            <a:spLocks noGrp="1"/>
          </p:cNvSpPr>
          <p:nvPr>
            <p:ph idx="1"/>
          </p:nvPr>
        </p:nvSpPr>
        <p:spPr>
          <a:xfrm>
            <a:off x="195943" y="1259633"/>
            <a:ext cx="6578081" cy="4781729"/>
          </a:xfrm>
        </p:spPr>
        <p:txBody>
          <a:bodyPr>
            <a:normAutofit/>
          </a:bodyPr>
          <a:lstStyle/>
          <a:p>
            <a:r>
              <a:rPr lang="en-US" dirty="0"/>
              <a:t>Content:-</a:t>
            </a:r>
          </a:p>
          <a:p>
            <a:pPr lvl="1">
              <a:buFont typeface="Arial" panose="020B0604020202020204" pitchFamily="34" charset="0"/>
              <a:buChar char="•"/>
            </a:pPr>
            <a:r>
              <a:rPr lang="en-US" dirty="0"/>
              <a:t>Smile, Beach, Party, Fun, Food, Concert has highest comments, likes and tags count content around these contents will boost engagement by users</a:t>
            </a:r>
          </a:p>
          <a:p>
            <a:pPr lvl="1">
              <a:buFont typeface="Arial" panose="020B0604020202020204" pitchFamily="34" charset="0"/>
              <a:buChar char="•"/>
            </a:pPr>
            <a:r>
              <a:rPr lang="en-US" dirty="0"/>
              <a:t>Ads featuring these themes can boost the reach among audiences interested in lifestyle and leisure</a:t>
            </a:r>
          </a:p>
          <a:p>
            <a:r>
              <a:rPr lang="en-US" dirty="0"/>
              <a:t>Hashtags:-</a:t>
            </a:r>
          </a:p>
          <a:p>
            <a:pPr lvl="1">
              <a:buFont typeface="Arial" panose="020B0604020202020204" pitchFamily="34" charset="0"/>
              <a:buChar char="•"/>
            </a:pPr>
            <a:r>
              <a:rPr lang="en-US" dirty="0"/>
              <a:t>Popular hashtags like #Photography, #Landscapes, #Beach, and #Stunning are highly effective for expanding reach and attracting a broader audience.</a:t>
            </a:r>
          </a:p>
          <a:p>
            <a:pPr lvl="1">
              <a:buFont typeface="Arial" panose="020B0604020202020204" pitchFamily="34" charset="0"/>
              <a:buChar char="•"/>
            </a:pPr>
            <a:r>
              <a:rPr lang="en-US" dirty="0"/>
              <a:t>Using these hashtags, along with niche-specific tags, can enhance visibility and drive engagement among users interested in similar content themes. </a:t>
            </a:r>
            <a:endParaRPr lang="en-IN" dirty="0"/>
          </a:p>
        </p:txBody>
      </p:sp>
      <p:pic>
        <p:nvPicPr>
          <p:cNvPr id="4" name="Content Placeholder 9">
            <a:extLst>
              <a:ext uri="{FF2B5EF4-FFF2-40B4-BE49-F238E27FC236}">
                <a16:creationId xmlns:a16="http://schemas.microsoft.com/office/drawing/2014/main" id="{1A0BAA0C-62D5-9EE9-B894-89CD5055BEC8}"/>
              </a:ext>
            </a:extLst>
          </p:cNvPr>
          <p:cNvPicPr>
            <a:picLocks noChangeAspect="1"/>
          </p:cNvPicPr>
          <p:nvPr/>
        </p:nvPicPr>
        <p:blipFill>
          <a:blip r:embed="rId3"/>
          <a:stretch>
            <a:fillRect/>
          </a:stretch>
        </p:blipFill>
        <p:spPr>
          <a:xfrm>
            <a:off x="6351653" y="1930400"/>
            <a:ext cx="3560432" cy="3259720"/>
          </a:xfrm>
          <a:prstGeom prst="rect">
            <a:avLst/>
          </a:prstGeom>
        </p:spPr>
      </p:pic>
    </p:spTree>
    <p:extLst>
      <p:ext uri="{BB962C8B-B14F-4D97-AF65-F5344CB8AC3E}">
        <p14:creationId xmlns:p14="http://schemas.microsoft.com/office/powerpoint/2010/main" val="136795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C7910-00E2-91C2-6146-35DCE5BBB99A}"/>
              </a:ext>
            </a:extLst>
          </p:cNvPr>
          <p:cNvSpPr>
            <a:spLocks noGrp="1"/>
          </p:cNvSpPr>
          <p:nvPr>
            <p:ph type="title"/>
          </p:nvPr>
        </p:nvSpPr>
        <p:spPr/>
        <p:txBody>
          <a:bodyPr/>
          <a:lstStyle/>
          <a:p>
            <a:pPr algn="ctr"/>
            <a:r>
              <a:rPr lang="en-US" b="1" dirty="0"/>
              <a:t>MORE RECOMMENDATIONS</a:t>
            </a:r>
            <a:endParaRPr lang="en-IN" b="1" dirty="0"/>
          </a:p>
        </p:txBody>
      </p:sp>
      <p:sp>
        <p:nvSpPr>
          <p:cNvPr id="3" name="Content Placeholder 2">
            <a:extLst>
              <a:ext uri="{FF2B5EF4-FFF2-40B4-BE49-F238E27FC236}">
                <a16:creationId xmlns:a16="http://schemas.microsoft.com/office/drawing/2014/main" id="{EBFBE8F2-A6C4-808E-9A01-AB138A4C75BA}"/>
              </a:ext>
            </a:extLst>
          </p:cNvPr>
          <p:cNvSpPr>
            <a:spLocks noGrp="1"/>
          </p:cNvSpPr>
          <p:nvPr>
            <p:ph idx="1"/>
          </p:nvPr>
        </p:nvSpPr>
        <p:spPr>
          <a:xfrm>
            <a:off x="677334" y="1362269"/>
            <a:ext cx="5592837" cy="4679093"/>
          </a:xfrm>
        </p:spPr>
        <p:txBody>
          <a:bodyPr>
            <a:normAutofit lnSpcReduction="10000"/>
          </a:bodyPr>
          <a:lstStyle/>
          <a:p>
            <a:r>
              <a:rPr lang="en-US" dirty="0"/>
              <a:t>Selection of Influencer/Brand Ambassador:-</a:t>
            </a:r>
          </a:p>
          <a:p>
            <a:pPr lvl="1">
              <a:buFont typeface="Arial" panose="020B0604020202020204" pitchFamily="34" charset="0"/>
              <a:buChar char="•"/>
            </a:pPr>
            <a:r>
              <a:rPr lang="en-US" dirty="0"/>
              <a:t>Meggie Doyle, Jaylan. Lakin, Granville Kutch,  have the highest engagement rate among other followers</a:t>
            </a:r>
          </a:p>
          <a:p>
            <a:pPr lvl="1">
              <a:buFont typeface="Arial" panose="020B0604020202020204" pitchFamily="34" charset="0"/>
              <a:buChar char="•"/>
            </a:pPr>
            <a:r>
              <a:rPr lang="en-US" dirty="0"/>
              <a:t>High-engagement users often maintain regular interactions, increasing the likelihood of spreading brand messages organically and boosting credibility.</a:t>
            </a:r>
          </a:p>
          <a:p>
            <a:r>
              <a:rPr lang="en-US" dirty="0"/>
              <a:t>Rewards/ Incentive to Inactive users:-</a:t>
            </a:r>
          </a:p>
          <a:p>
            <a:pPr lvl="1">
              <a:buFont typeface="Arial" panose="020B0604020202020204" pitchFamily="34" charset="0"/>
              <a:buChar char="•"/>
            </a:pPr>
            <a:r>
              <a:rPr lang="en-US" dirty="0"/>
              <a:t>Enter active users into a monthly raffle to win rewards such as gift cards, brand merchandise, or premium subscriptions.</a:t>
            </a:r>
          </a:p>
          <a:p>
            <a:pPr lvl="1">
              <a:buFont typeface="Arial" panose="020B0604020202020204" pitchFamily="34" charset="0"/>
              <a:buChar char="•"/>
            </a:pPr>
            <a:r>
              <a:rPr lang="en-US" dirty="0"/>
              <a:t>Create a points system or badges for engagement (likes, comments, shares) that users can redeem for perks like profile customization, exclusive filters, or even discounts with partner brands</a:t>
            </a:r>
          </a:p>
          <a:p>
            <a:endParaRPr lang="en-US" dirty="0"/>
          </a:p>
          <a:p>
            <a:endParaRPr lang="en-IN" dirty="0"/>
          </a:p>
        </p:txBody>
      </p:sp>
      <p:pic>
        <p:nvPicPr>
          <p:cNvPr id="4" name="Content Placeholder 9">
            <a:extLst>
              <a:ext uri="{FF2B5EF4-FFF2-40B4-BE49-F238E27FC236}">
                <a16:creationId xmlns:a16="http://schemas.microsoft.com/office/drawing/2014/main" id="{4F6B95D9-2D1E-5883-6676-746F0364515E}"/>
              </a:ext>
            </a:extLst>
          </p:cNvPr>
          <p:cNvPicPr>
            <a:picLocks noChangeAspect="1"/>
          </p:cNvPicPr>
          <p:nvPr/>
        </p:nvPicPr>
        <p:blipFill>
          <a:blip r:embed="rId2"/>
          <a:stretch>
            <a:fillRect/>
          </a:stretch>
        </p:blipFill>
        <p:spPr>
          <a:xfrm>
            <a:off x="6270171" y="2096950"/>
            <a:ext cx="3505831" cy="3209730"/>
          </a:xfrm>
          <a:prstGeom prst="rect">
            <a:avLst/>
          </a:prstGeom>
        </p:spPr>
      </p:pic>
    </p:spTree>
    <p:extLst>
      <p:ext uri="{BB962C8B-B14F-4D97-AF65-F5344CB8AC3E}">
        <p14:creationId xmlns:p14="http://schemas.microsoft.com/office/powerpoint/2010/main" val="2471039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C4458-8590-CB45-1FCA-14F87FC2AC35}"/>
              </a:ext>
            </a:extLst>
          </p:cNvPr>
          <p:cNvSpPr>
            <a:spLocks noGrp="1"/>
          </p:cNvSpPr>
          <p:nvPr>
            <p:ph type="ctrTitle"/>
          </p:nvPr>
        </p:nvSpPr>
        <p:spPr>
          <a:xfrm>
            <a:off x="1507067" y="251928"/>
            <a:ext cx="7766936" cy="1558212"/>
          </a:xfrm>
        </p:spPr>
        <p:txBody>
          <a:bodyPr/>
          <a:lstStyle/>
          <a:p>
            <a:pPr algn="ctr"/>
            <a:r>
              <a:rPr lang="en-GB" dirty="0">
                <a:latin typeface="DM Serif Text"/>
                <a:ea typeface="DM Serif Text"/>
                <a:cs typeface="DM Serif Text"/>
                <a:sym typeface="DM Serif Text"/>
              </a:rPr>
              <a:t>CONCLUSION</a:t>
            </a:r>
            <a:br>
              <a:rPr lang="en-IN" dirty="0"/>
            </a:br>
            <a:endParaRPr lang="en-IN" dirty="0"/>
          </a:p>
        </p:txBody>
      </p:sp>
      <p:sp>
        <p:nvSpPr>
          <p:cNvPr id="3" name="Subtitle 2">
            <a:extLst>
              <a:ext uri="{FF2B5EF4-FFF2-40B4-BE49-F238E27FC236}">
                <a16:creationId xmlns:a16="http://schemas.microsoft.com/office/drawing/2014/main" id="{DD92C01B-416B-DA07-A835-8B42A3F4DB59}"/>
              </a:ext>
            </a:extLst>
          </p:cNvPr>
          <p:cNvSpPr>
            <a:spLocks noGrp="1"/>
          </p:cNvSpPr>
          <p:nvPr>
            <p:ph type="subTitle" idx="1"/>
          </p:nvPr>
        </p:nvSpPr>
        <p:spPr>
          <a:xfrm>
            <a:off x="1507067" y="1203649"/>
            <a:ext cx="7766936" cy="5094514"/>
          </a:xfrm>
        </p:spPr>
        <p:txBody>
          <a:bodyPr>
            <a:normAutofit/>
          </a:bodyPr>
          <a:lstStyle/>
          <a:p>
            <a:pPr marL="285750" indent="-285750" algn="l">
              <a:buFont typeface="Wingdings" panose="05000000000000000000" pitchFamily="2" charset="2"/>
              <a:buChar char="Ø"/>
            </a:pPr>
            <a:r>
              <a:rPr lang="en-US" sz="1600" dirty="0">
                <a:solidFill>
                  <a:schemeClr val="tx1"/>
                </a:solidFill>
              </a:rPr>
              <a:t>Content centered around popular themes like "Smile, Beach, Party, Fun, Food, and Concert" resonates well with audiences, making it ideal for both organic posts and targeted ads to attract lifestyle and leisure-focused users.</a:t>
            </a:r>
          </a:p>
          <a:p>
            <a:pPr marL="285750" indent="-285750" algn="l">
              <a:buFont typeface="Wingdings" panose="05000000000000000000" pitchFamily="2" charset="2"/>
              <a:buChar char="Ø"/>
            </a:pPr>
            <a:endParaRPr lang="en-US" sz="1600" dirty="0">
              <a:solidFill>
                <a:schemeClr val="tx1"/>
              </a:solidFill>
            </a:endParaRPr>
          </a:p>
          <a:p>
            <a:pPr marL="285750" indent="-285750" algn="l">
              <a:buFont typeface="Wingdings" panose="05000000000000000000" pitchFamily="2" charset="2"/>
              <a:buChar char="Ø"/>
            </a:pPr>
            <a:r>
              <a:rPr lang="en-US" sz="1600" dirty="0">
                <a:solidFill>
                  <a:schemeClr val="tx1"/>
                </a:solidFill>
              </a:rPr>
              <a:t>Incorporating top-performing hashtags (#Photography, #Landscapes, #Beach, and #Stunning) will further enhance visibility, tapping into a broader audience interested in these themes.</a:t>
            </a:r>
          </a:p>
          <a:p>
            <a:pPr marL="285750" indent="-285750" algn="l">
              <a:buFont typeface="Wingdings" panose="05000000000000000000" pitchFamily="2" charset="2"/>
              <a:buChar char="Ø"/>
            </a:pPr>
            <a:endParaRPr lang="en-US" sz="1600" dirty="0">
              <a:solidFill>
                <a:schemeClr val="tx1"/>
              </a:solidFill>
            </a:endParaRPr>
          </a:p>
          <a:p>
            <a:pPr marL="285750" indent="-285750" algn="l">
              <a:buFont typeface="Wingdings" panose="05000000000000000000" pitchFamily="2" charset="2"/>
              <a:buChar char="Ø"/>
            </a:pPr>
            <a:r>
              <a:rPr lang="en-US" sz="1600" dirty="0">
                <a:solidFill>
                  <a:schemeClr val="tx1"/>
                </a:solidFill>
              </a:rPr>
              <a:t>Collaborating with high-engagement influencers such as Meggie Doyle, Jaylan. Lakin, and Granville Kutch will amplify our reach authentically, as their strong follower interactions increase credibility and encourage organic sharing.</a:t>
            </a:r>
          </a:p>
          <a:p>
            <a:pPr marL="285750" indent="-285750" algn="l">
              <a:buFont typeface="Wingdings" panose="05000000000000000000" pitchFamily="2" charset="2"/>
              <a:buChar char="Ø"/>
            </a:pPr>
            <a:endParaRPr lang="en-US" sz="1600" dirty="0">
              <a:solidFill>
                <a:schemeClr val="tx1"/>
              </a:solidFill>
            </a:endParaRPr>
          </a:p>
          <a:p>
            <a:pPr marL="285750" indent="-285750" algn="l">
              <a:buFont typeface="Wingdings" panose="05000000000000000000" pitchFamily="2" charset="2"/>
              <a:buChar char="Ø"/>
            </a:pPr>
            <a:r>
              <a:rPr lang="en-US" sz="1600" dirty="0">
                <a:solidFill>
                  <a:schemeClr val="tx1"/>
                </a:solidFill>
              </a:rPr>
              <a:t>Finally, implementing rewards and incentives like raffles and a points-based system will re-engage inactive users, motivating them to participate more frequently.</a:t>
            </a:r>
          </a:p>
          <a:p>
            <a:pPr algn="l"/>
            <a:endParaRPr lang="en-IN" dirty="0"/>
          </a:p>
        </p:txBody>
      </p:sp>
    </p:spTree>
    <p:extLst>
      <p:ext uri="{BB962C8B-B14F-4D97-AF65-F5344CB8AC3E}">
        <p14:creationId xmlns:p14="http://schemas.microsoft.com/office/powerpoint/2010/main" val="660567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743FB-9853-DC6F-8A61-8BA85688183F}"/>
              </a:ext>
            </a:extLst>
          </p:cNvPr>
          <p:cNvSpPr>
            <a:spLocks noGrp="1"/>
          </p:cNvSpPr>
          <p:nvPr>
            <p:ph type="title"/>
          </p:nvPr>
        </p:nvSpPr>
        <p:spPr>
          <a:xfrm>
            <a:off x="677334" y="970385"/>
            <a:ext cx="8596668" cy="2360644"/>
          </a:xfrm>
        </p:spPr>
        <p:txBody>
          <a:bodyPr>
            <a:noAutofit/>
          </a:bodyPr>
          <a:lstStyle/>
          <a:p>
            <a:pPr algn="ctr"/>
            <a:r>
              <a:rPr lang="en-US" sz="8800" dirty="0"/>
              <a:t>THANK YOU </a:t>
            </a:r>
            <a:endParaRPr lang="en-IN" sz="8800" dirty="0"/>
          </a:p>
        </p:txBody>
      </p:sp>
      <p:pic>
        <p:nvPicPr>
          <p:cNvPr id="4" name="Picture 3">
            <a:extLst>
              <a:ext uri="{FF2B5EF4-FFF2-40B4-BE49-F238E27FC236}">
                <a16:creationId xmlns:a16="http://schemas.microsoft.com/office/drawing/2014/main" id="{228EBAA0-2FCB-D087-8C90-8D5C11CA58AB}"/>
              </a:ext>
            </a:extLst>
          </p:cNvPr>
          <p:cNvPicPr>
            <a:picLocks noChangeAspect="1"/>
          </p:cNvPicPr>
          <p:nvPr/>
        </p:nvPicPr>
        <p:blipFill>
          <a:blip r:embed="rId2"/>
          <a:stretch>
            <a:fillRect/>
          </a:stretch>
        </p:blipFill>
        <p:spPr>
          <a:xfrm>
            <a:off x="1362268" y="2565919"/>
            <a:ext cx="7361853" cy="4000888"/>
          </a:xfrm>
          <a:prstGeom prst="rect">
            <a:avLst/>
          </a:prstGeom>
        </p:spPr>
      </p:pic>
    </p:spTree>
    <p:extLst>
      <p:ext uri="{BB962C8B-B14F-4D97-AF65-F5344CB8AC3E}">
        <p14:creationId xmlns:p14="http://schemas.microsoft.com/office/powerpoint/2010/main" val="17090796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216</TotalTime>
  <Words>991</Words>
  <Application>Microsoft Office PowerPoint</Application>
  <PresentationFormat>Widescreen</PresentationFormat>
  <Paragraphs>91</Paragraphs>
  <Slides>13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Calibri</vt:lpstr>
      <vt:lpstr>Courier New</vt:lpstr>
      <vt:lpstr>DM Serif Text</vt:lpstr>
      <vt:lpstr>Lato Bold Italics</vt:lpstr>
      <vt:lpstr>Times New Roman</vt:lpstr>
      <vt:lpstr>Trebuchet MS</vt:lpstr>
      <vt:lpstr>Wingdings</vt:lpstr>
      <vt:lpstr>Wingdings 3</vt:lpstr>
      <vt:lpstr>Facet</vt:lpstr>
      <vt:lpstr>SOCIAL MEDIA ANALYSIS PROJECT </vt:lpstr>
      <vt:lpstr>Problem Statement </vt:lpstr>
      <vt:lpstr>Instagram Dataset: Columns and Descriptions</vt:lpstr>
      <vt:lpstr>Data Schema</vt:lpstr>
      <vt:lpstr>User Activity Distribution </vt:lpstr>
      <vt:lpstr>Content Performance</vt:lpstr>
      <vt:lpstr>Top Users by Average Engagement per Post</vt:lpstr>
      <vt:lpstr>Hashtags Driving Highest Engagement</vt:lpstr>
      <vt:lpstr>Summary</vt:lpstr>
      <vt:lpstr>Key Recommendations</vt:lpstr>
      <vt:lpstr>MORE RECOMMENDATIONS</vt:lpstr>
      <vt:lpstr>CONCLUSION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Subhrajyoti_ Guha_23076107</dc:creator>
  <cp:lastModifiedBy>Subhrajyoti_ Guha_23076107</cp:lastModifiedBy>
  <cp:revision>7</cp:revision>
  <dcterms:created xsi:type="dcterms:W3CDTF">2026-05-23T07:55:55Z</dcterms:created>
  <dcterms:modified xsi:type="dcterms:W3CDTF">2026-05-28T19:05:13Z</dcterms:modified>
</cp:coreProperties>
</file>